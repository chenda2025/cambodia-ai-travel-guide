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72" r:id="rId2"/>
    <p:sldId id="282" r:id="rId3"/>
    <p:sldId id="299" r:id="rId4"/>
    <p:sldId id="256" r:id="rId5"/>
    <p:sldId id="257" r:id="rId6"/>
    <p:sldId id="287" r:id="rId7"/>
    <p:sldId id="258" r:id="rId8"/>
    <p:sldId id="259" r:id="rId9"/>
    <p:sldId id="294" r:id="rId10"/>
    <p:sldId id="295" r:id="rId11"/>
    <p:sldId id="289" r:id="rId12"/>
    <p:sldId id="290" r:id="rId13"/>
    <p:sldId id="296" r:id="rId14"/>
    <p:sldId id="291" r:id="rId15"/>
    <p:sldId id="298" r:id="rId16"/>
    <p:sldId id="293" r:id="rId17"/>
    <p:sldId id="281" r:id="rId18"/>
    <p:sldId id="297" r:id="rId19"/>
    <p:sldId id="270" r:id="rId20"/>
  </p:sldIdLst>
  <p:sldSz cx="18288000" cy="10287000"/>
  <p:notesSz cx="6858000" cy="9144000"/>
  <p:embeddedFontLst>
    <p:embeddedFont>
      <p:font typeface="AKbalthom Kbach" panose="02000500000000000000" pitchFamily="2" charset="0"/>
      <p:regular r:id="rId22"/>
    </p:embeddedFont>
    <p:embeddedFont>
      <p:font typeface="Garet" panose="020B0604020202020204" charset="0"/>
      <p:regular r:id="rId23"/>
    </p:embeddedFont>
    <p:embeddedFont>
      <p:font typeface="Garet Bold" panose="020B0604020202020204" charset="0"/>
      <p:regular r:id="rId24"/>
    </p:embeddedFont>
    <p:embeddedFont>
      <p:font typeface="Goudy Old Style" panose="02020502050305020303" pitchFamily="18" charset="0"/>
      <p:regular r:id="rId25"/>
      <p:bold r:id="rId26"/>
      <p:italic r:id="rId27"/>
    </p:embeddedFont>
    <p:embeddedFont>
      <p:font typeface="Khmer OS Battambang" panose="02000500000000020004" pitchFamily="2" charset="0"/>
      <p:regular r:id="rId28"/>
      <p:bold r:id="rId29"/>
    </p:embeddedFont>
    <p:embeddedFont>
      <p:font typeface="Khmer OS Muol Light" panose="02000500000000020004" pitchFamily="2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222" autoAdjust="0"/>
  </p:normalViewPr>
  <p:slideViewPr>
    <p:cSldViewPr>
      <p:cViewPr varScale="1">
        <p:scale>
          <a:sx n="71" d="100"/>
          <a:sy n="71" d="100"/>
        </p:scale>
        <p:origin x="714" y="-8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DF533-B036-4FC3-8740-88579B5358B3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3962F-C918-4637-BDF5-344291CDD4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81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050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252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A22E-6548-CDFA-12B3-8BEB6F22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8D1C9-1FB9-CCB2-7AF6-E9B4B8FD8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3F831-33B3-46B9-444A-325C21B4C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19F85-19BA-708F-9B4E-B8B4BBFD6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275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A6BF-0EFC-DEC8-2705-8AF9693A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ECCB4-5FA0-7FF1-50F3-798FAF46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B11EA-5108-F1C8-63FC-1C61E57E1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098D1-36CD-15AD-47AB-71EB5694A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03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85140-B128-1D10-476B-77499F28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5C47A-EFF0-F99F-43C0-A053ADE38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C9694-7F33-EB37-0935-2B0D8D85A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F68CD-A10A-E027-137C-7859D7AFA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283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D60A1-F828-D38B-A610-060B752F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A344C-C428-CD9E-EE54-A1157E2A7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B4C57-846D-D1F1-F1C6-D613AB8A5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F876F-2FD1-10F1-EFB2-E650B83EF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277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9ACF-3ABD-B4BC-CF37-18B09E11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86D92-EFBD-854A-F1D7-DBCA65CEF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DAC14-9DCF-E66E-3F94-9CC409FB2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1EF26-AEFB-1E5C-A90A-FCB27C337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78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51CC-E835-3D0C-BB21-467ED565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24C04-31CB-FAAE-8497-0A53A9F1E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707A6-DEFE-45F2-5BD9-94D129F2A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0A47D-8B16-596F-E050-0284F8B52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468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51CC-E835-3D0C-BB21-467ED565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24C04-31CB-FAAE-8497-0A53A9F1E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707A6-DEFE-45F2-5BD9-94D129F2A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0A47D-8B16-596F-E050-0284F8B52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843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DC6B-CE5F-4544-2D38-D988AC6D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28FD9-22CB-5E21-79C7-171BB86C9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813E4-9030-0B6A-F41D-0F6B41468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E60B5-1CB1-2B7D-6180-17DC4A83B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245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A4B7-A190-7CD9-5F80-F10E4352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5EE4B-43A3-51C8-D3CD-55E51DAAC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FAAC6-822E-943E-6EE4-1C327ECB9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0EC31-1A77-8AEB-7DAC-E3FB2BCC7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991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CDCE-011A-B650-1940-C9D031B3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DFEED-B9EC-5825-43A6-BE1339BF1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2C67D-03CF-D0AD-8AD5-E69613EF9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B989E-ECC5-CE61-B25E-F6A86E196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962F-C918-4637-BDF5-344291CDD4D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96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15475" y="3259932"/>
            <a:ext cx="7715250" cy="3136212"/>
          </a:xfrm>
        </p:spPr>
        <p:txBody>
          <a:bodyPr rtlCol="0" anchor="b">
            <a:noAutofit/>
          </a:bodyPr>
          <a:lstStyle>
            <a:lvl1pPr algn="l">
              <a:defRPr sz="81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pPr rtl="0"/>
            <a:r>
              <a:rPr lang="en-GB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5475" y="6419957"/>
            <a:ext cx="7715250" cy="754751"/>
          </a:xfrm>
        </p:spPr>
        <p:txBody>
          <a:bodyPr rtlCol="0">
            <a:noAutofit/>
          </a:bodyPr>
          <a:lstStyle>
            <a:lvl1pPr marL="0" indent="0" algn="l">
              <a:buNone/>
              <a:defRPr sz="2700" b="0" cap="all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6219" y="1092818"/>
            <a:ext cx="7958492" cy="7958492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2592457" y="-3074276"/>
            <a:ext cx="13375844" cy="16154652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sz="2700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sz="2700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9499" y="1968908"/>
            <a:ext cx="2617877" cy="101004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9704667" y="6350373"/>
            <a:ext cx="379850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2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EEFEC1-E64A-9892-27DE-29602D5378A2}"/>
              </a:ext>
            </a:extLst>
          </p:cNvPr>
          <p:cNvSpPr/>
          <p:nvPr/>
        </p:nvSpPr>
        <p:spPr>
          <a:xfrm>
            <a:off x="-1309254" y="0"/>
            <a:ext cx="19584747" cy="2832342"/>
          </a:xfrm>
          <a:prstGeom prst="rect">
            <a:avLst/>
          </a:prstGeom>
          <a:solidFill>
            <a:srgbClr val="003F8D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700" dirty="0">
              <a:solidFill>
                <a:srgbClr val="003F8D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09254" y="2832343"/>
            <a:ext cx="19597253" cy="7187957"/>
          </a:xfrm>
        </p:spPr>
        <p:txBody>
          <a:bodyPr rtlCol="0"/>
          <a:lstStyle/>
          <a:p>
            <a:pPr algn="ctr">
              <a:lnSpc>
                <a:spcPct val="150000"/>
              </a:lnSpc>
            </a:pPr>
            <a:endParaRPr lang="en-US" sz="3600" dirty="0">
              <a:solidFill>
                <a:schemeClr val="accent6">
                  <a:lumMod val="75000"/>
                </a:schemeClr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km-KH" sz="3600" dirty="0">
                <a:solidFill>
                  <a:schemeClr val="accent6">
                    <a:lumMod val="75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មហាវិទ្យាល័យ ព័ត៌មានវិទ្យា និង វិទ្យាសាស្រ្ត</a:t>
            </a:r>
            <a:br>
              <a:rPr lang="en-GB" sz="2800" dirty="0"/>
            </a:b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  <a:t>FACULTY OF INFORMATION TECHNOLOGY AND SCIENCE</a:t>
            </a:r>
          </a:p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srgbClr val="0D1D51"/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  <a:t>MAJOR: </a:t>
            </a:r>
            <a:r>
              <a:rPr lang="en-GB" sz="2800" b="1" dirty="0">
                <a:solidFill>
                  <a:srgbClr val="C00000"/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  <a:t>SOFTWARE ENGINEERING</a:t>
            </a:r>
            <a:endParaRPr lang="en-GB" sz="2800" dirty="0">
              <a:solidFill>
                <a:srgbClr val="C00000"/>
              </a:solidFill>
              <a:latin typeface="AKbalthom Kbach" panose="02000500000000000000" pitchFamily="2" charset="0"/>
              <a:cs typeface="AKbalthom Kbach" panose="02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srgbClr val="0070C0"/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  <a:t>SUBJECT: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  <a:t>SOFTWARE PROJECT MANAGEMENT</a:t>
            </a:r>
            <a:endParaRPr lang="en-GB" sz="2800" dirty="0">
              <a:solidFill>
                <a:schemeClr val="accent6">
                  <a:lumMod val="50000"/>
                </a:schemeClr>
              </a:solidFill>
              <a:latin typeface="AKbalthom Kbach" panose="02000500000000000000" pitchFamily="2" charset="0"/>
              <a:cs typeface="AKbalthom Kbach" panose="02000500000000000000" pitchFamily="2" charset="0"/>
            </a:endParaRPr>
          </a:p>
          <a:p>
            <a:pPr algn="ctr"/>
            <a:r>
              <a:rPr lang="en-GB" sz="2800" b="1" dirty="0">
                <a:solidFill>
                  <a:srgbClr val="00B0F0"/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  <a:t>TOPIC: 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“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AI TRAVEL GUIDE CHATBOT FOR CAMBODIA”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2800" b="1" dirty="0"/>
              <a:t>FINAL PROJECT</a:t>
            </a:r>
            <a:endParaRPr lang="en-US" sz="2800" dirty="0"/>
          </a:p>
          <a:p>
            <a:pPr algn="ctr">
              <a:lnSpc>
                <a:spcPct val="150000"/>
              </a:lnSpc>
            </a:pPr>
            <a:br>
              <a:rPr lang="en-GB" sz="2800" b="1" dirty="0">
                <a:solidFill>
                  <a:srgbClr val="0070C0"/>
                </a:solidFill>
                <a:latin typeface="AKbalthom Kbach" panose="02000500000000000000" pitchFamily="2" charset="0"/>
                <a:cs typeface="AKbalthom Kbach" panose="02000500000000000000" pitchFamily="2" charset="0"/>
              </a:rPr>
            </a:b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LECTURER PROFESSOR </a:t>
            </a:r>
            <a:br>
              <a:rPr lang="en-GB" dirty="0"/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DR.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SOVANN CHEN</a:t>
            </a:r>
            <a:endParaRPr lang="en-US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7805C5-A674-FE86-A72A-149C78A59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289" y="0"/>
            <a:ext cx="14031866" cy="283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07D326-DFCB-4D50-9CB9-05C4A5349CE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275861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E59B664-59D7-4638-BFCD-D15B427E5931}"/>
              </a:ext>
            </a:extLst>
          </p:cNvPr>
          <p:cNvSpPr/>
          <p:nvPr/>
        </p:nvSpPr>
        <p:spPr>
          <a:xfrm>
            <a:off x="3332937" y="6189641"/>
            <a:ext cx="1886903" cy="2297430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7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B0FCEC-FA8C-4015-8B96-15EDB512DE29}"/>
              </a:ext>
            </a:extLst>
          </p:cNvPr>
          <p:cNvSpPr/>
          <p:nvPr/>
        </p:nvSpPr>
        <p:spPr>
          <a:xfrm>
            <a:off x="3083176" y="8862573"/>
            <a:ext cx="238642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TEP VANNY</a:t>
            </a:r>
            <a:endParaRPr lang="en-US" sz="2700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4F274D-9603-4532-9AF7-F5AD87EBAEE3}"/>
              </a:ext>
            </a:extLst>
          </p:cNvPr>
          <p:cNvSpPr/>
          <p:nvPr/>
        </p:nvSpPr>
        <p:spPr>
          <a:xfrm>
            <a:off x="381849" y="2981475"/>
            <a:ext cx="18288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Goudy Old Style" panose="02020502050305020303" pitchFamily="18" charset="0"/>
                <a:cs typeface="Khmer OS Battambang" panose="02000500000000020004" pitchFamily="2" charset="0"/>
              </a:rPr>
              <a:t>SUBMITTED BY GROUP </a:t>
            </a:r>
            <a:r>
              <a:rPr lang="en-US" sz="2800" b="1" dirty="0">
                <a:solidFill>
                  <a:srgbClr val="FF0000"/>
                </a:solidFill>
                <a:latin typeface="Goudy Old Style" panose="02020502050305020303" pitchFamily="18" charset="0"/>
                <a:cs typeface="Khmer OS Battambang" panose="02000500000000020004" pitchFamily="2" charset="0"/>
              </a:rPr>
              <a:t>4</a:t>
            </a:r>
            <a:br>
              <a:rPr lang="en-US" sz="2800" b="1" dirty="0">
                <a:solidFill>
                  <a:srgbClr val="FF0000"/>
                </a:solidFill>
                <a:latin typeface="Goudy Old Style" panose="02020502050305020303" pitchFamily="18" charset="0"/>
                <a:cs typeface="Khmer OS Battambang" panose="02000500000000020004" pitchFamily="2" charset="0"/>
              </a:rPr>
            </a:br>
            <a:br>
              <a:rPr lang="en-US" sz="3200" b="1" u="sng" dirty="0">
                <a:solidFill>
                  <a:srgbClr val="00B0F0"/>
                </a:solidFill>
                <a:latin typeface="Goudy Old Style" panose="02020502050305020303" pitchFamily="18" charset="0"/>
                <a:cs typeface="Khmer OS Battambang" panose="02000500000000020004" pitchFamily="2" charset="0"/>
              </a:rPr>
            </a:br>
            <a:br>
              <a:rPr lang="en-US" sz="3200" b="1" u="sng" dirty="0">
                <a:solidFill>
                  <a:srgbClr val="00B0F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</a:br>
            <a:br>
              <a:rPr lang="en-US" sz="3200" b="1" u="sng" dirty="0">
                <a:solidFill>
                  <a:srgbClr val="00B0F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</a:br>
            <a:br>
              <a:rPr lang="en-US" sz="3200" b="1" u="sng" dirty="0">
                <a:solidFill>
                  <a:srgbClr val="00B0F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</a:br>
            <a:endParaRPr lang="en-US" sz="32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819C73-26BD-5B2A-8EEF-15CBAE34615D}"/>
              </a:ext>
            </a:extLst>
          </p:cNvPr>
          <p:cNvSpPr/>
          <p:nvPr/>
        </p:nvSpPr>
        <p:spPr>
          <a:xfrm>
            <a:off x="6234972" y="6189641"/>
            <a:ext cx="1963107" cy="2306955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4BCC34-DE43-36FD-43D1-C758AF57CB01}"/>
              </a:ext>
            </a:extLst>
          </p:cNvPr>
          <p:cNvSpPr/>
          <p:nvPr/>
        </p:nvSpPr>
        <p:spPr>
          <a:xfrm>
            <a:off x="10853620" y="6079743"/>
            <a:ext cx="1886902" cy="2296886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41EE12-4CFC-7327-136A-E28A41DB0DDB}"/>
              </a:ext>
            </a:extLst>
          </p:cNvPr>
          <p:cNvSpPr/>
          <p:nvPr/>
        </p:nvSpPr>
        <p:spPr>
          <a:xfrm>
            <a:off x="13868400" y="6123004"/>
            <a:ext cx="1963107" cy="229743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75355FD-0DCC-0DBE-943E-20D84197B78F}"/>
              </a:ext>
            </a:extLst>
          </p:cNvPr>
          <p:cNvSpPr/>
          <p:nvPr/>
        </p:nvSpPr>
        <p:spPr>
          <a:xfrm>
            <a:off x="8570755" y="3586083"/>
            <a:ext cx="1910191" cy="2306955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6BFBD-62ED-30DE-1565-28B02FBB41D6}"/>
              </a:ext>
            </a:extLst>
          </p:cNvPr>
          <p:cNvSpPr/>
          <p:nvPr/>
        </p:nvSpPr>
        <p:spPr>
          <a:xfrm>
            <a:off x="5920337" y="8851258"/>
            <a:ext cx="259237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VAN SARATH</a:t>
            </a:r>
            <a:endParaRPr lang="en-US" sz="2700" dirty="0">
              <a:solidFill>
                <a:srgbClr val="00B05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63365D-70DD-9265-EBD7-524FF42C3EEA}"/>
              </a:ext>
            </a:extLst>
          </p:cNvPr>
          <p:cNvSpPr/>
          <p:nvPr/>
        </p:nvSpPr>
        <p:spPr>
          <a:xfrm>
            <a:off x="10210800" y="8900456"/>
            <a:ext cx="335502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PHAN CHHAYLEAP</a:t>
            </a:r>
            <a:endParaRPr lang="en-US" sz="2700" dirty="0">
              <a:solidFill>
                <a:srgbClr val="00B05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48C313-7125-C9F0-ACBB-F68E18044AAE}"/>
              </a:ext>
            </a:extLst>
          </p:cNvPr>
          <p:cNvSpPr/>
          <p:nvPr/>
        </p:nvSpPr>
        <p:spPr>
          <a:xfrm>
            <a:off x="13868400" y="8862573"/>
            <a:ext cx="228620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YI PHANIT </a:t>
            </a:r>
            <a:endParaRPr lang="en-US" sz="2700" dirty="0">
              <a:solidFill>
                <a:srgbClr val="00B05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3C87DA-1A25-3018-3F38-E7D6F2996CFF}"/>
              </a:ext>
            </a:extLst>
          </p:cNvPr>
          <p:cNvSpPr/>
          <p:nvPr/>
        </p:nvSpPr>
        <p:spPr>
          <a:xfrm>
            <a:off x="8207123" y="6016291"/>
            <a:ext cx="263745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TOB CHENDA</a:t>
            </a:r>
            <a:endParaRPr lang="en-US" sz="27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326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1FE5-5F0F-A101-A38E-8E904FC1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A03760-0476-C3A3-4F43-FA9E2A1C88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275861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1E15179-8D41-A75D-2701-DB2A0B8950AC}"/>
              </a:ext>
            </a:extLst>
          </p:cNvPr>
          <p:cNvSpPr/>
          <p:nvPr/>
        </p:nvSpPr>
        <p:spPr>
          <a:xfrm>
            <a:off x="1278827" y="4930756"/>
            <a:ext cx="1886903" cy="2297430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7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BA8B04-6781-4A37-8D8F-9366BBDFCFC7}"/>
              </a:ext>
            </a:extLst>
          </p:cNvPr>
          <p:cNvSpPr/>
          <p:nvPr/>
        </p:nvSpPr>
        <p:spPr>
          <a:xfrm>
            <a:off x="1029066" y="7886700"/>
            <a:ext cx="27247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TEP VANNY</a:t>
            </a:r>
            <a:br>
              <a:rPr lang="en-US" sz="2700" b="1" dirty="0">
                <a:solidFill>
                  <a:srgbClr val="00B050"/>
                </a:solidFill>
              </a:rPr>
            </a:br>
            <a:r>
              <a:rPr lang="en-US" sz="2700" b="1" dirty="0">
                <a:solidFill>
                  <a:schemeClr val="accent6">
                    <a:lumMod val="75000"/>
                  </a:schemeClr>
                </a:solidFill>
              </a:rPr>
              <a:t>Marketing Officer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33B739-A2F9-8B40-0059-BDC9D5C05257}"/>
              </a:ext>
            </a:extLst>
          </p:cNvPr>
          <p:cNvSpPr/>
          <p:nvPr/>
        </p:nvSpPr>
        <p:spPr>
          <a:xfrm>
            <a:off x="4889919" y="4921231"/>
            <a:ext cx="1963107" cy="2306955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CF799C-DF93-48B8-F1BD-93A43AA3D5E3}"/>
              </a:ext>
            </a:extLst>
          </p:cNvPr>
          <p:cNvSpPr/>
          <p:nvPr/>
        </p:nvSpPr>
        <p:spPr>
          <a:xfrm>
            <a:off x="11634027" y="4921231"/>
            <a:ext cx="1886902" cy="2296886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CA8D02-C0BC-4079-CE1D-75B04D532A60}"/>
              </a:ext>
            </a:extLst>
          </p:cNvPr>
          <p:cNvSpPr/>
          <p:nvPr/>
        </p:nvSpPr>
        <p:spPr>
          <a:xfrm>
            <a:off x="14874809" y="4930756"/>
            <a:ext cx="1963107" cy="229743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65A053-D9F0-5A41-5D4F-27544443EDC3}"/>
              </a:ext>
            </a:extLst>
          </p:cNvPr>
          <p:cNvSpPr/>
          <p:nvPr/>
        </p:nvSpPr>
        <p:spPr>
          <a:xfrm>
            <a:off x="8243819" y="3034731"/>
            <a:ext cx="1910191" cy="2306955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FFFB7E-BBBD-E4CA-E80A-97E10F067467}"/>
              </a:ext>
            </a:extLst>
          </p:cNvPr>
          <p:cNvSpPr/>
          <p:nvPr/>
        </p:nvSpPr>
        <p:spPr>
          <a:xfrm>
            <a:off x="4519180" y="7895559"/>
            <a:ext cx="34056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VAN SARATH</a:t>
            </a:r>
          </a:p>
          <a:p>
            <a:r>
              <a:rPr lang="en-US" sz="2700" dirty="0">
                <a:solidFill>
                  <a:srgbClr val="00B050"/>
                </a:solidFill>
              </a:rPr>
              <a:t>  </a:t>
            </a:r>
            <a:r>
              <a:rPr lang="en-US" sz="2700" dirty="0">
                <a:solidFill>
                  <a:srgbClr val="00B0F0"/>
                </a:solidFill>
              </a:rPr>
              <a:t>UI/UX Designer</a:t>
            </a:r>
          </a:p>
          <a:p>
            <a:r>
              <a:rPr lang="en-US" sz="2700" dirty="0">
                <a:solidFill>
                  <a:srgbClr val="00B050"/>
                </a:solidFill>
              </a:rPr>
              <a:t>Frontend Developer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   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F00FD7-2B1D-FB54-ED56-B9B46CD34275}"/>
              </a:ext>
            </a:extLst>
          </p:cNvPr>
          <p:cNvSpPr/>
          <p:nvPr/>
        </p:nvSpPr>
        <p:spPr>
          <a:xfrm>
            <a:off x="10972800" y="7782305"/>
            <a:ext cx="3355021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PHAN CHHAYLEAP</a:t>
            </a:r>
          </a:p>
          <a:p>
            <a:pPr algn="ctr"/>
            <a:r>
              <a:rPr lang="en-US" sz="2700" b="1" dirty="0">
                <a:solidFill>
                  <a:schemeClr val="accent2">
                    <a:lumMod val="75000"/>
                  </a:schemeClr>
                </a:solidFill>
              </a:rPr>
              <a:t>System Analyst  </a:t>
            </a:r>
          </a:p>
          <a:p>
            <a:pPr algn="ctr"/>
            <a:r>
              <a:rPr lang="en-US" sz="2700" dirty="0">
                <a:solidFill>
                  <a:srgbClr val="0070C0"/>
                </a:solidFill>
              </a:rPr>
              <a:t>Backend Developer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26BAB6-1F25-7D09-B7FB-BE68762DC5F6}"/>
              </a:ext>
            </a:extLst>
          </p:cNvPr>
          <p:cNvSpPr/>
          <p:nvPr/>
        </p:nvSpPr>
        <p:spPr>
          <a:xfrm>
            <a:off x="14903838" y="7773635"/>
            <a:ext cx="22076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YI PHANIT</a:t>
            </a:r>
          </a:p>
          <a:p>
            <a:r>
              <a:rPr lang="en-US" sz="2700" dirty="0">
                <a:solidFill>
                  <a:srgbClr val="00B050"/>
                </a:solidFill>
              </a:rPr>
              <a:t> </a:t>
            </a:r>
            <a:r>
              <a:rPr lang="en-US" sz="2700" dirty="0">
                <a:solidFill>
                  <a:schemeClr val="accent4">
                    <a:lumMod val="50000"/>
                  </a:schemeClr>
                </a:solidFill>
              </a:rPr>
              <a:t>Tester (QA) </a:t>
            </a:r>
            <a:r>
              <a:rPr lang="en-US" sz="27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endParaRPr lang="en-US" sz="27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1B7B67-019E-55FA-A668-04B06F223A8B}"/>
              </a:ext>
            </a:extLst>
          </p:cNvPr>
          <p:cNvSpPr/>
          <p:nvPr/>
        </p:nvSpPr>
        <p:spPr>
          <a:xfrm>
            <a:off x="7946731" y="5617806"/>
            <a:ext cx="2637453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002060"/>
                </a:solidFill>
              </a:rPr>
              <a:t>Mr</a:t>
            </a:r>
            <a:r>
              <a:rPr lang="en-US" sz="2700" b="1" dirty="0">
                <a:solidFill>
                  <a:srgbClr val="00B050"/>
                </a:solidFill>
              </a:rPr>
              <a:t>. TOB CHENDA</a:t>
            </a:r>
          </a:p>
          <a:p>
            <a:r>
              <a:rPr lang="en-US" sz="2700" dirty="0">
                <a:solidFill>
                  <a:srgbClr val="FF0000"/>
                </a:solidFill>
              </a:rPr>
              <a:t>Project Manager</a:t>
            </a:r>
          </a:p>
          <a:p>
            <a:r>
              <a:rPr lang="en-US" sz="2700" dirty="0">
                <a:solidFill>
                  <a:srgbClr val="FF0000"/>
                </a:solidFill>
              </a:rPr>
              <a:t>    &amp; Developer </a:t>
            </a:r>
          </a:p>
        </p:txBody>
      </p:sp>
    </p:spTree>
    <p:extLst>
      <p:ext uri="{BB962C8B-B14F-4D97-AF65-F5344CB8AC3E}">
        <p14:creationId xmlns:p14="http://schemas.microsoft.com/office/powerpoint/2010/main" val="194025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81146" y="-48219"/>
            <a:ext cx="6224060" cy="10335220"/>
            <a:chOff x="0" y="0"/>
            <a:chExt cx="2858770" cy="6344920"/>
          </a:xfrm>
          <a:blipFill>
            <a:blip r:embed="rId2"/>
            <a:stretch>
              <a:fillRect l="-113405" r="-119513"/>
            </a:stretch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96966" y="5881650"/>
            <a:ext cx="4176257" cy="654298"/>
            <a:chOff x="0" y="-28575"/>
            <a:chExt cx="1099919" cy="1723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9919" cy="143750"/>
            </a:xfrm>
            <a:custGeom>
              <a:avLst/>
              <a:gdLst/>
              <a:ahLst/>
              <a:cxnLst/>
              <a:rect l="l" t="t" r="r" b="b"/>
              <a:pathLst>
                <a:path w="1099919" h="143750">
                  <a:moveTo>
                    <a:pt x="71875" y="0"/>
                  </a:moveTo>
                  <a:lnTo>
                    <a:pt x="1028044" y="0"/>
                  </a:lnTo>
                  <a:cubicBezTo>
                    <a:pt x="1067740" y="0"/>
                    <a:pt x="1099919" y="32180"/>
                    <a:pt x="1099919" y="71875"/>
                  </a:cubicBezTo>
                  <a:lnTo>
                    <a:pt x="1099919" y="71875"/>
                  </a:lnTo>
                  <a:cubicBezTo>
                    <a:pt x="1099919" y="90938"/>
                    <a:pt x="1092347" y="109219"/>
                    <a:pt x="1078868" y="122699"/>
                  </a:cubicBezTo>
                  <a:cubicBezTo>
                    <a:pt x="1065389" y="136178"/>
                    <a:pt x="1047107" y="143750"/>
                    <a:pt x="1028044" y="143750"/>
                  </a:cubicBezTo>
                  <a:lnTo>
                    <a:pt x="71875" y="143750"/>
                  </a:lnTo>
                  <a:cubicBezTo>
                    <a:pt x="52813" y="143750"/>
                    <a:pt x="34531" y="136178"/>
                    <a:pt x="21052" y="122699"/>
                  </a:cubicBezTo>
                  <a:cubicBezTo>
                    <a:pt x="7573" y="109219"/>
                    <a:pt x="0" y="90938"/>
                    <a:pt x="0" y="71875"/>
                  </a:cubicBezTo>
                  <a:lnTo>
                    <a:pt x="0" y="71875"/>
                  </a:lnTo>
                  <a:cubicBezTo>
                    <a:pt x="0" y="52813"/>
                    <a:pt x="7573" y="34531"/>
                    <a:pt x="21052" y="21052"/>
                  </a:cubicBezTo>
                  <a:cubicBezTo>
                    <a:pt x="34531" y="7573"/>
                    <a:pt x="52813" y="0"/>
                    <a:pt x="71875" y="0"/>
                  </a:cubicBez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99919" cy="17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25–December- 2025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53887" y="786854"/>
            <a:ext cx="1977164" cy="197716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293628" y="8159226"/>
            <a:ext cx="6429541" cy="396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vannymanuel333666999@gmail.com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1600" y="2400300"/>
            <a:ext cx="1036319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chemeClr val="accent6">
                    <a:lumMod val="50000"/>
                  </a:schemeClr>
                </a:solidFill>
              </a:rPr>
              <a:t>“</a:t>
            </a:r>
            <a:r>
              <a:rPr lang="en-GB" sz="6000" b="1" dirty="0">
                <a:solidFill>
                  <a:schemeClr val="accent6">
                    <a:lumMod val="50000"/>
                  </a:schemeClr>
                </a:solidFill>
              </a:rPr>
              <a:t>AI TRAVEL GUIDE CHATBOT FOR CAMBODIA”</a:t>
            </a:r>
            <a:endParaRPr lang="en-US" sz="6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624423" y="8133422"/>
            <a:ext cx="488488" cy="488488"/>
          </a:xfrm>
          <a:custGeom>
            <a:avLst/>
            <a:gdLst/>
            <a:ahLst/>
            <a:cxnLst/>
            <a:rect l="l" t="t" r="r" b="b"/>
            <a:pathLst>
              <a:path w="488488" h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7766" y="7109187"/>
            <a:ext cx="11830234" cy="3177813"/>
            <a:chOff x="0" y="0"/>
            <a:chExt cx="9347345" cy="2510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47345" cy="2510865"/>
            </a:xfrm>
            <a:custGeom>
              <a:avLst/>
              <a:gdLst/>
              <a:ahLst/>
              <a:cxnLst/>
              <a:rect l="l" t="t" r="r" b="b"/>
              <a:pathLst>
                <a:path w="9347345" h="2510865">
                  <a:moveTo>
                    <a:pt x="0" y="0"/>
                  </a:moveTo>
                  <a:lnTo>
                    <a:pt x="9347345" y="0"/>
                  </a:lnTo>
                  <a:lnTo>
                    <a:pt x="9347345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347345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0"/>
            <a:ext cx="5429066" cy="10287000"/>
            <a:chOff x="0" y="0"/>
            <a:chExt cx="7238755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7004" r="49284"/>
            <a:stretch>
              <a:fillRect/>
            </a:stretch>
          </p:blipFill>
          <p:spPr>
            <a:xfrm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7259300" y="0"/>
            <a:ext cx="1694792" cy="10287000"/>
            <a:chOff x="0" y="0"/>
            <a:chExt cx="446365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7109187"/>
            <a:ext cx="1028700" cy="3177813"/>
            <a:chOff x="0" y="0"/>
            <a:chExt cx="812800" cy="25108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028700" cy="102870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97118" y="692526"/>
            <a:ext cx="7494647" cy="115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297118" y="2384162"/>
            <a:ext cx="969409" cy="96940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97118" y="3565108"/>
            <a:ext cx="969409" cy="96940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297118" y="4746054"/>
            <a:ext cx="969409" cy="96940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97118" y="5927000"/>
            <a:ext cx="969409" cy="96940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297118" y="7107945"/>
            <a:ext cx="969409" cy="96940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97118" y="8288891"/>
            <a:ext cx="969409" cy="96940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06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011231" y="1028700"/>
            <a:ext cx="1652841" cy="165284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814124" y="816351"/>
            <a:ext cx="771724" cy="771724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919457" y="8414693"/>
            <a:ext cx="3744615" cy="3744615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8485829" y="2604664"/>
            <a:ext cx="317277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85829" y="3814862"/>
            <a:ext cx="3172771" cy="428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GB" sz="2400" b="1" dirty="0"/>
              <a:t>PROPOSED SOLUTION </a:t>
            </a:r>
            <a:endParaRPr lang="en-US" sz="24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485829" y="4921324"/>
            <a:ext cx="3172771" cy="444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GB" sz="2400" b="1" dirty="0"/>
              <a:t>KEY FEATURES</a:t>
            </a:r>
            <a:endParaRPr lang="en-US" sz="24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485829" y="6176754"/>
            <a:ext cx="3096571" cy="444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/>
              <a:t>TECHNOLOGY STACK</a:t>
            </a:r>
            <a:endParaRPr lang="en-US" sz="24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485829" y="7357700"/>
            <a:ext cx="4772496" cy="428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/>
              <a:t>SYSTEM ARCHITECTURE DIAGRAM</a:t>
            </a:r>
            <a:endParaRPr lang="en-US" sz="24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485829" y="8538646"/>
            <a:ext cx="3096571" cy="428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/>
              <a:t>DEMO</a:t>
            </a:r>
            <a:r>
              <a:rPr lang="en-US" sz="2400" dirty="0"/>
              <a:t> </a:t>
            </a:r>
            <a:endParaRPr lang="en-US" sz="24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52" name="Group 17">
            <a:extLst>
              <a:ext uri="{FF2B5EF4-FFF2-40B4-BE49-F238E27FC236}">
                <a16:creationId xmlns:a16="http://schemas.microsoft.com/office/drawing/2014/main" id="{97809EEC-38F4-2904-223F-891CAA97FDCA}"/>
              </a:ext>
            </a:extLst>
          </p:cNvPr>
          <p:cNvGrpSpPr/>
          <p:nvPr/>
        </p:nvGrpSpPr>
        <p:grpSpPr>
          <a:xfrm>
            <a:off x="11373828" y="2360128"/>
            <a:ext cx="969409" cy="969409"/>
            <a:chOff x="0" y="0"/>
            <a:chExt cx="812800" cy="812800"/>
          </a:xfrm>
        </p:grpSpPr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F25C779F-50E2-502E-FBF3-D20174E5CDD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4" name="TextBox 19">
              <a:extLst>
                <a:ext uri="{FF2B5EF4-FFF2-40B4-BE49-F238E27FC236}">
                  <a16:creationId xmlns:a16="http://schemas.microsoft.com/office/drawing/2014/main" id="{158E6182-9A70-6C42-7EC4-266394845164}"/>
                </a:ext>
              </a:extLst>
            </p:cNvPr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07</a:t>
              </a:r>
            </a:p>
          </p:txBody>
        </p:sp>
      </p:grpSp>
      <p:sp>
        <p:nvSpPr>
          <p:cNvPr id="55" name="TextBox 44">
            <a:extLst>
              <a:ext uri="{FF2B5EF4-FFF2-40B4-BE49-F238E27FC236}">
                <a16:creationId xmlns:a16="http://schemas.microsoft.com/office/drawing/2014/main" id="{37661C84-6D3D-6A40-D408-A836B69D8953}"/>
              </a:ext>
            </a:extLst>
          </p:cNvPr>
          <p:cNvSpPr txBox="1"/>
          <p:nvPr/>
        </p:nvSpPr>
        <p:spPr>
          <a:xfrm>
            <a:off x="12525284" y="3863774"/>
            <a:ext cx="40840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2400" b="1" dirty="0"/>
              <a:t>CHALLENGES &amp; SOLUTIONS </a:t>
            </a:r>
          </a:p>
        </p:txBody>
      </p:sp>
      <p:grpSp>
        <p:nvGrpSpPr>
          <p:cNvPr id="56" name="Group 17">
            <a:extLst>
              <a:ext uri="{FF2B5EF4-FFF2-40B4-BE49-F238E27FC236}">
                <a16:creationId xmlns:a16="http://schemas.microsoft.com/office/drawing/2014/main" id="{65705F77-2050-D530-C4D6-5568F1D19C0B}"/>
              </a:ext>
            </a:extLst>
          </p:cNvPr>
          <p:cNvGrpSpPr/>
          <p:nvPr/>
        </p:nvGrpSpPr>
        <p:grpSpPr>
          <a:xfrm>
            <a:off x="11373828" y="3556585"/>
            <a:ext cx="969409" cy="969409"/>
            <a:chOff x="0" y="0"/>
            <a:chExt cx="812800" cy="812800"/>
          </a:xfrm>
        </p:grpSpPr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91E19E2F-982E-A9EF-99A8-D1CFB6D287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8" name="TextBox 19">
              <a:extLst>
                <a:ext uri="{FF2B5EF4-FFF2-40B4-BE49-F238E27FC236}">
                  <a16:creationId xmlns:a16="http://schemas.microsoft.com/office/drawing/2014/main" id="{D560BE2D-4332-D010-776B-E77C8CBEA50D}"/>
                </a:ext>
              </a:extLst>
            </p:cNvPr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08</a:t>
              </a:r>
            </a:p>
          </p:txBody>
        </p:sp>
      </p:grpSp>
      <p:grpSp>
        <p:nvGrpSpPr>
          <p:cNvPr id="59" name="Group 17">
            <a:extLst>
              <a:ext uri="{FF2B5EF4-FFF2-40B4-BE49-F238E27FC236}">
                <a16:creationId xmlns:a16="http://schemas.microsoft.com/office/drawing/2014/main" id="{4B8AD4DA-7F84-EA87-0236-58391F48E0E6}"/>
              </a:ext>
            </a:extLst>
          </p:cNvPr>
          <p:cNvGrpSpPr/>
          <p:nvPr/>
        </p:nvGrpSpPr>
        <p:grpSpPr>
          <a:xfrm>
            <a:off x="11373827" y="4731400"/>
            <a:ext cx="969409" cy="969409"/>
            <a:chOff x="0" y="0"/>
            <a:chExt cx="812800" cy="812800"/>
          </a:xfrm>
        </p:grpSpPr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7B0B8A84-FB1C-7108-10ED-85531B64B5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61" name="TextBox 19">
              <a:extLst>
                <a:ext uri="{FF2B5EF4-FFF2-40B4-BE49-F238E27FC236}">
                  <a16:creationId xmlns:a16="http://schemas.microsoft.com/office/drawing/2014/main" id="{8DCA5353-E986-9A95-49AF-6FAE7553F381}"/>
                </a:ext>
              </a:extLst>
            </p:cNvPr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09</a:t>
              </a:r>
            </a:p>
          </p:txBody>
        </p:sp>
      </p:grpSp>
      <p:sp>
        <p:nvSpPr>
          <p:cNvPr id="66" name="TextBox 44">
            <a:extLst>
              <a:ext uri="{FF2B5EF4-FFF2-40B4-BE49-F238E27FC236}">
                <a16:creationId xmlns:a16="http://schemas.microsoft.com/office/drawing/2014/main" id="{C3FC940A-7DC5-CD8C-07E3-72A07FB07444}"/>
              </a:ext>
            </a:extLst>
          </p:cNvPr>
          <p:cNvSpPr txBox="1"/>
          <p:nvPr/>
        </p:nvSpPr>
        <p:spPr>
          <a:xfrm>
            <a:off x="13011379" y="4818192"/>
            <a:ext cx="4084016" cy="428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/>
              <a:t>CONCLUSION &amp; FUTURE SCOPE </a:t>
            </a:r>
            <a:endParaRPr lang="en-US" sz="2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52FA08-7086-4728-E2A3-CDCDEBB57E2F}"/>
              </a:ext>
            </a:extLst>
          </p:cNvPr>
          <p:cNvSpPr txBox="1"/>
          <p:nvPr/>
        </p:nvSpPr>
        <p:spPr>
          <a:xfrm>
            <a:off x="13019006" y="2564083"/>
            <a:ext cx="3096571" cy="444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/>
              <a:t>TESTING RESULTS</a:t>
            </a:r>
            <a:endParaRPr lang="en-US" sz="24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BBFF-D083-4F03-F2BD-F55A59C0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10A146-B74B-A2E8-2A95-191343AF8363}"/>
              </a:ext>
            </a:extLst>
          </p:cNvPr>
          <p:cNvGrpSpPr/>
          <p:nvPr/>
        </p:nvGrpSpPr>
        <p:grpSpPr>
          <a:xfrm>
            <a:off x="-241721" y="-19957"/>
            <a:ext cx="18288000" cy="10286999"/>
            <a:chOff x="0" y="0"/>
            <a:chExt cx="1783202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29C93B-7E14-BB40-6817-E3B2543EFEAD}"/>
                </a:ext>
              </a:extLst>
            </p:cNvPr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7483396-30B3-ABED-79CA-169CF8FAC87A}"/>
                </a:ext>
              </a:extLst>
            </p:cNvPr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B49CAB70-86A5-272E-2D3F-3D60C6B6158B}"/>
              </a:ext>
            </a:extLst>
          </p:cNvPr>
          <p:cNvSpPr/>
          <p:nvPr/>
        </p:nvSpPr>
        <p:spPr>
          <a:xfrm>
            <a:off x="916626" y="1908721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4F02BE-CFAC-5CE2-A62A-51F4E61CC32D}"/>
              </a:ext>
            </a:extLst>
          </p:cNvPr>
          <p:cNvSpPr txBox="1"/>
          <p:nvPr/>
        </p:nvSpPr>
        <p:spPr>
          <a:xfrm>
            <a:off x="1422273" y="705210"/>
            <a:ext cx="12190256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US" sz="40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1. </a:t>
            </a:r>
            <a:r>
              <a:rPr lang="en-US" sz="4000" b="1" dirty="0">
                <a:solidFill>
                  <a:schemeClr val="bg1"/>
                </a:solidFill>
              </a:rPr>
              <a:t>PROBLEM STATEMENT</a:t>
            </a:r>
            <a:r>
              <a:rPr lang="en-US" sz="4000" dirty="0">
                <a:solidFill>
                  <a:schemeClr val="bg1"/>
                </a:solidFill>
              </a:rPr>
              <a:t> (WHY DID WE BUILD THIS?)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F965517-85EB-EC93-A8EC-B25511475D5A}"/>
              </a:ext>
            </a:extLst>
          </p:cNvPr>
          <p:cNvGrpSpPr/>
          <p:nvPr/>
        </p:nvGrpSpPr>
        <p:grpSpPr>
          <a:xfrm>
            <a:off x="15740861" y="6749958"/>
            <a:ext cx="4596322" cy="459632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89172F2-F0AD-6559-08CB-B1C1801776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7F77599C-89D4-CC68-7484-A1CEDB22380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B770B99E-A62E-0CEF-A823-8E5EDE1FAF7F}"/>
              </a:ext>
            </a:extLst>
          </p:cNvPr>
          <p:cNvSpPr txBox="1"/>
          <p:nvPr/>
        </p:nvSpPr>
        <p:spPr>
          <a:xfrm rot="5400000">
            <a:off x="16213695" y="56831"/>
            <a:ext cx="1479329" cy="154867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53ABB50D-EA8C-383D-71BB-2B9B868D743F}"/>
              </a:ext>
            </a:extLst>
          </p:cNvPr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04AB6BC4-A7B3-6E6B-8036-70213A39D5C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A8C5D72-DDD3-3547-43D5-FEACA3389C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7552A2CF-B25B-5DBB-AF60-745D9E1C27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sp>
        <p:nvSpPr>
          <p:cNvPr id="6" name="TextBox 39">
            <a:extLst>
              <a:ext uri="{FF2B5EF4-FFF2-40B4-BE49-F238E27FC236}">
                <a16:creationId xmlns:a16="http://schemas.microsoft.com/office/drawing/2014/main" id="{674CE0BE-BB19-F8FB-D687-E093EC27A5B6}"/>
              </a:ext>
            </a:extLst>
          </p:cNvPr>
          <p:cNvSpPr txBox="1"/>
          <p:nvPr/>
        </p:nvSpPr>
        <p:spPr>
          <a:xfrm>
            <a:off x="1422273" y="1882185"/>
            <a:ext cx="16203696" cy="7529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DID WE BUILD THIS?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Tourists visiting Cambodia face difficulties finding accurate, reliable, and localized travel information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Existing travel platforms are: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Difficult to navigate, with scattered information across multiple pages.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Not focused specifically on Cambodia, lacking deep local insights.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International tourists experience language barriers, making it hard to understand local guidance.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 no 24/7 intelligent assistant to instantly answer tourist questions.</a:t>
            </a:r>
          </a:p>
          <a:p>
            <a:pPr>
              <a:lnSpc>
                <a:spcPct val="200000"/>
              </a:lnSpc>
            </a:pP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 result, tourists spend more time searching for information and may miss important travel opportunities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9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5534"/>
            <a:ext cx="18288000" cy="10286999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39944" y="744695"/>
            <a:ext cx="1340945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4000" b="1" dirty="0">
                <a:solidFill>
                  <a:schemeClr val="bg1"/>
                </a:solidFill>
              </a:rPr>
              <a:t>2. PROPOSED SOLUTION</a:t>
            </a:r>
            <a:r>
              <a:rPr lang="en-US" sz="4000" dirty="0">
                <a:solidFill>
                  <a:schemeClr val="bg1"/>
                </a:solidFill>
              </a:rPr>
              <a:t> (High-level overview)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1488191"/>
            <a:ext cx="14993795" cy="9030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project is an AI-powered travel guide chatbot that assists domestic and international   tourists with travel information by: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Recommending places in Cambodia (Angkor Wat, Phnom Penh, Siem Reap, beaches, cultural heritage sites, and natural attractions, etc.).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Giving travel tips (transport, food, culture, weather, safety)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Answer tourists' questions using English (and optionally Khmer)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 24/7 instant responses to users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 tourist experience and satisfaction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Accessible via web or mobile application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Easy-to-use and user-friendly interface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 Cambodia’s tourism industry using modern AI technology </a:t>
            </a:r>
          </a:p>
          <a:p>
            <a:pPr lvl="0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address these problems, this project proposes the development of an AI Travel Guide Chatbot for Cambodia that provides instant, accurate,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personalized travel information using Artificial Intelligence.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5740861" y="6749958"/>
            <a:ext cx="4596322" cy="45963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 rot="5400000">
            <a:off x="16213695" y="56831"/>
            <a:ext cx="1479329" cy="154867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CF189CB-E15A-4867-2528-E0FA8E74C3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8336" y="2442779"/>
            <a:ext cx="16759811" cy="7368358"/>
            <a:chOff x="0" y="0"/>
            <a:chExt cx="1340440" cy="16903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0440" cy="1690329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19200" y="352573"/>
            <a:ext cx="1076983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3. KEY FEATURES</a:t>
            </a:r>
            <a:endParaRPr lang="en-US" sz="4000" b="1" spc="99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19200" y="2616249"/>
            <a:ext cx="8686800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In-Scope Features</a:t>
            </a:r>
          </a:p>
          <a:p>
            <a:r>
              <a:rPr lang="en-US" sz="3200" b="1" dirty="0"/>
              <a:t>1. Language Support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English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Khmer</a:t>
            </a:r>
          </a:p>
          <a:p>
            <a:r>
              <a:rPr lang="en-US" sz="3200" dirty="0"/>
              <a:t>Enables communication for both international and local tourists</a:t>
            </a:r>
          </a:p>
          <a:p>
            <a:r>
              <a:rPr lang="en-US" sz="3200" dirty="0"/>
              <a:t>Helps reduce language barriers</a:t>
            </a:r>
          </a:p>
          <a:p>
            <a:br>
              <a:rPr lang="en-US" sz="3200" dirty="0"/>
            </a:br>
            <a:r>
              <a:rPr lang="en-US" sz="3200" b="1" dirty="0"/>
              <a:t>2. Home Page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Simple and user-friendly interface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Quick access to main features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Highlights popular destinations and chatbot access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3BC26B73-2B34-CD0C-436E-716B000F7B75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190291-BD24-A255-DBC5-070074EB65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2B01C7-4C50-B92C-D135-8B88805A0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092" y="5963915"/>
            <a:ext cx="6729485" cy="35278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79738F-5406-7791-0C08-1CE4210E5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978" y="2107622"/>
            <a:ext cx="6732991" cy="35278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903C2-B847-14FE-F89F-810A059F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A58C684-2A10-8F23-D7FA-42C8ACA294CF}"/>
              </a:ext>
            </a:extLst>
          </p:cNvPr>
          <p:cNvGrpSpPr/>
          <p:nvPr/>
        </p:nvGrpSpPr>
        <p:grpSpPr>
          <a:xfrm>
            <a:off x="608336" y="2442779"/>
            <a:ext cx="16759811" cy="7368358"/>
            <a:chOff x="0" y="0"/>
            <a:chExt cx="1340440" cy="16903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4D2AE3-2FD6-3E16-AED4-CFE27B10A982}"/>
                </a:ext>
              </a:extLst>
            </p:cNvPr>
            <p:cNvSpPr/>
            <p:nvPr/>
          </p:nvSpPr>
          <p:spPr>
            <a:xfrm>
              <a:off x="0" y="0"/>
              <a:ext cx="1340440" cy="1690329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CDFD379-D50B-D644-06A2-F52B3921AB33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44594788-67C2-C13E-10BD-122F56ADB81B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2232F71-FA3C-1D43-A445-532E429E5FE1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F7938F00-633B-C270-8E83-E55B5D50A9A9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85F00AE0-F7E2-0ACF-F39E-A4B1227EAC06}"/>
              </a:ext>
            </a:extLst>
          </p:cNvPr>
          <p:cNvSpPr txBox="1"/>
          <p:nvPr/>
        </p:nvSpPr>
        <p:spPr>
          <a:xfrm>
            <a:off x="1219200" y="352573"/>
            <a:ext cx="1076983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3. KEY FEATURES</a:t>
            </a:r>
            <a:endParaRPr lang="en-US" sz="4000" b="1" spc="99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B9542F5-2CBB-BAFC-52B5-9ACA1301F70E}"/>
              </a:ext>
            </a:extLst>
          </p:cNvPr>
          <p:cNvSpPr txBox="1"/>
          <p:nvPr/>
        </p:nvSpPr>
        <p:spPr>
          <a:xfrm>
            <a:off x="1219200" y="2616249"/>
            <a:ext cx="8686800" cy="7632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3. Tourist Top Attractions</a:t>
            </a:r>
          </a:p>
          <a:p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Recommends popular places in Cambodia, including: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Angkor Wat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Phnom Penh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Siem Reap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Beaches (Sihanoukville, Koh Rong,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Cultural heritage sites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Natural attractions</a:t>
            </a:r>
          </a:p>
          <a:p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Provides brief descriptions and travel information</a:t>
            </a:r>
          </a:p>
          <a:p>
            <a:endParaRPr lang="en-US" sz="2400" b="1" dirty="0">
              <a:latin typeface="Calibri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2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4. Food Guide</a:t>
            </a:r>
          </a:p>
          <a:p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Suggests popular Cambodian foods: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Amok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Lok Lak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Bai Sach </a:t>
            </a:r>
            <a:r>
              <a:rPr lang="en-US" sz="2400" b="1" dirty="0" err="1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Chrouk</a:t>
            </a:r>
            <a:endParaRPr lang="en-US" sz="2400" b="1" dirty="0">
              <a:latin typeface="Calibri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Street food and walk street recommendations</a:t>
            </a:r>
          </a:p>
          <a:p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Includes food descriptions and where to try them</a:t>
            </a:r>
          </a:p>
          <a:p>
            <a:r>
              <a:rPr lang="en-US" sz="2400" b="1" dirty="0">
                <a:latin typeface="Calibri (Body)"/>
                <a:ea typeface="Open Sans" panose="020B0606030504020204" pitchFamily="34" charset="0"/>
                <a:cs typeface="Open Sans" panose="020B0606030504020204" pitchFamily="34" charset="0"/>
              </a:rPr>
              <a:t>Helps tourists explore local cuisine safely</a:t>
            </a:r>
          </a:p>
          <a:p>
            <a:endParaRPr lang="en-US" sz="2400" b="1" dirty="0">
              <a:latin typeface="Calibri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400" b="1" dirty="0">
              <a:latin typeface="Calibri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0C32198D-F6C9-A4EC-82FB-B29978FBAA27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34BEA-503E-AD82-B31D-678B4DD7C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C02F56-3685-36FC-205F-CC20C958D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242" y="2442779"/>
            <a:ext cx="6739752" cy="35004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AE413C-59AA-9747-DF91-8198268C7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0242" y="6085843"/>
            <a:ext cx="6778344" cy="35004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4262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8347-241B-ECDA-1A9A-503E012B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7F0591D-F643-CC6B-A599-3048EB19D5F2}"/>
              </a:ext>
            </a:extLst>
          </p:cNvPr>
          <p:cNvGrpSpPr/>
          <p:nvPr/>
        </p:nvGrpSpPr>
        <p:grpSpPr>
          <a:xfrm>
            <a:off x="608336" y="2442779"/>
            <a:ext cx="16759811" cy="7368358"/>
            <a:chOff x="0" y="0"/>
            <a:chExt cx="1340440" cy="16903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08F5A91-71EB-161E-6372-A1DD1062FD92}"/>
                </a:ext>
              </a:extLst>
            </p:cNvPr>
            <p:cNvSpPr/>
            <p:nvPr/>
          </p:nvSpPr>
          <p:spPr>
            <a:xfrm>
              <a:off x="0" y="0"/>
              <a:ext cx="1340440" cy="1690329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46FABC-E0EF-C2FD-F098-AFE166898BB8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9571138F-A30B-FB95-371B-F39D0E804BDA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65AFD79-B27E-48BE-489C-333537363015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B4A7DEDB-10CA-EC2E-16BD-7321A533B790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303946E0-5EDD-3C18-A041-BB5C4368E99D}"/>
              </a:ext>
            </a:extLst>
          </p:cNvPr>
          <p:cNvSpPr txBox="1"/>
          <p:nvPr/>
        </p:nvSpPr>
        <p:spPr>
          <a:xfrm>
            <a:off x="1219200" y="352573"/>
            <a:ext cx="1076983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3. KEY FEATURES</a:t>
            </a:r>
            <a:endParaRPr lang="en-US" sz="4000" b="1" spc="99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C51E866-E490-779C-8C7F-86F24BB59F42}"/>
              </a:ext>
            </a:extLst>
          </p:cNvPr>
          <p:cNvSpPr txBox="1"/>
          <p:nvPr/>
        </p:nvSpPr>
        <p:spPr>
          <a:xfrm>
            <a:off x="1219200" y="2616249"/>
            <a:ext cx="8686800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5. Travel Tips</a:t>
            </a:r>
          </a:p>
          <a:p>
            <a:pPr algn="just"/>
            <a:r>
              <a:rPr lang="en-US" sz="3200" dirty="0"/>
              <a:t>Transportation guidance</a:t>
            </a:r>
          </a:p>
          <a:p>
            <a:pPr algn="just"/>
            <a:r>
              <a:rPr lang="en-US" sz="3200" dirty="0"/>
              <a:t>Weather and best travel seasons</a:t>
            </a:r>
          </a:p>
          <a:p>
            <a:pPr algn="just"/>
            <a:r>
              <a:rPr lang="en-US" sz="3200" dirty="0"/>
              <a:t>Cultural practices and etiquette</a:t>
            </a:r>
          </a:p>
          <a:p>
            <a:pPr algn="just"/>
            <a:r>
              <a:rPr lang="en-US" sz="3200" dirty="0"/>
              <a:t>Safety tips for tourists</a:t>
            </a:r>
          </a:p>
          <a:p>
            <a:pPr algn="just"/>
            <a:r>
              <a:rPr lang="en-US" sz="3200" dirty="0"/>
              <a:t>Currency and basic local information</a:t>
            </a:r>
          </a:p>
          <a:p>
            <a:br>
              <a:rPr lang="en-US" sz="3200" dirty="0"/>
            </a:br>
            <a:endParaRPr lang="en-US" sz="3200" dirty="0"/>
          </a:p>
          <a:p>
            <a:r>
              <a:rPr lang="en-US" sz="3200" b="1" dirty="0"/>
              <a:t>6. AI Assistance</a:t>
            </a:r>
          </a:p>
          <a:p>
            <a:r>
              <a:rPr lang="en-US" sz="3200" dirty="0"/>
              <a:t>AI-powered chatbot available 24/7</a:t>
            </a:r>
          </a:p>
          <a:p>
            <a:r>
              <a:rPr lang="en-US" sz="3200" dirty="0"/>
              <a:t>Answers travel-related questions instantly</a:t>
            </a:r>
          </a:p>
          <a:p>
            <a:r>
              <a:rPr lang="en-US" sz="3200" dirty="0"/>
              <a:t>Provides personalized recommendations</a:t>
            </a:r>
          </a:p>
          <a:p>
            <a:r>
              <a:rPr lang="en-US" sz="3200" dirty="0"/>
              <a:t>Supports natural language conversation</a:t>
            </a: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1554B04E-E20B-02B6-B054-C6F874C99B53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C1F3D0-DBAA-6011-9741-947947447B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0DA1A-5DC0-F9EE-ED82-01399B055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2454127"/>
            <a:ext cx="6983586" cy="36209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13DE90-8AEE-BF78-7331-2F930A885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6173301"/>
            <a:ext cx="6983586" cy="36428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6507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B900-BE8B-2F36-C2ED-0A2C7CCD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80785DE-64CB-2EF7-54A6-646672585199}"/>
              </a:ext>
            </a:extLst>
          </p:cNvPr>
          <p:cNvGrpSpPr/>
          <p:nvPr/>
        </p:nvGrpSpPr>
        <p:grpSpPr>
          <a:xfrm>
            <a:off x="914400" y="2451769"/>
            <a:ext cx="16759811" cy="7368358"/>
            <a:chOff x="0" y="0"/>
            <a:chExt cx="1340440" cy="16903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1F7916-0766-8E5B-BF97-A7B746162742}"/>
                </a:ext>
              </a:extLst>
            </p:cNvPr>
            <p:cNvSpPr/>
            <p:nvPr/>
          </p:nvSpPr>
          <p:spPr>
            <a:xfrm>
              <a:off x="0" y="0"/>
              <a:ext cx="1340440" cy="1690329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3EED947-788A-832C-5B9D-0619399EC454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C4A8AA62-45A3-30DC-3FD7-74AAB911E167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57F5CFD6-6652-E88D-E9FE-1236CF3A1DEA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F6EF4C1-0DE8-D6DE-A232-8A68326CDACA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B266B07C-D6A0-3F4E-8C6B-4CDBC7CCDE75}"/>
              </a:ext>
            </a:extLst>
          </p:cNvPr>
          <p:cNvSpPr txBox="1"/>
          <p:nvPr/>
        </p:nvSpPr>
        <p:spPr>
          <a:xfrm>
            <a:off x="1219200" y="352573"/>
            <a:ext cx="1076983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4. </a:t>
            </a:r>
            <a:r>
              <a:rPr lang="en-US" sz="4000" b="1" dirty="0">
                <a:solidFill>
                  <a:schemeClr val="bg1"/>
                </a:solidFill>
              </a:rPr>
              <a:t>TECHNOLOGY STACK</a:t>
            </a:r>
            <a:endParaRPr lang="en-US" sz="4000" b="1" spc="99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37F681F9-496B-57BE-8383-9B79B946C32E}"/>
              </a:ext>
            </a:extLst>
          </p:cNvPr>
          <p:cNvSpPr txBox="1"/>
          <p:nvPr/>
        </p:nvSpPr>
        <p:spPr>
          <a:xfrm>
            <a:off x="1585696" y="2951999"/>
            <a:ext cx="7543800" cy="5103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Frontend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HTML CSS</a:t>
            </a:r>
            <a:br>
              <a:rPr lang="en-US" sz="2800" dirty="0"/>
            </a:br>
            <a:r>
              <a:rPr lang="en-US" sz="2800" dirty="0"/>
              <a:t>Used to build a responsive and interactive user interface for the chatbot.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Backend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Django (Python)</a:t>
            </a:r>
            <a:br>
              <a:rPr lang="en-US" sz="2800" dirty="0"/>
            </a:br>
            <a:r>
              <a:rPr lang="en-US" sz="2800" dirty="0"/>
              <a:t>Handles API requests, chatbot logic, and communication with the AI service.</a:t>
            </a: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0ED1AAF9-AD86-2657-3F95-935A868F5929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EFF0E8F2-55D1-B955-9B00-78046B1691DE}"/>
              </a:ext>
            </a:extLst>
          </p:cNvPr>
          <p:cNvSpPr txBox="1"/>
          <p:nvPr/>
        </p:nvSpPr>
        <p:spPr>
          <a:xfrm>
            <a:off x="9712762" y="2837140"/>
            <a:ext cx="6989542" cy="6588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Database</a:t>
            </a:r>
            <a:br>
              <a:rPr lang="km-KH" sz="2400" b="1" dirty="0">
                <a:solidFill>
                  <a:srgbClr val="0070C0"/>
                </a:solidFill>
              </a:rPr>
            </a:br>
            <a:r>
              <a:rPr lang="en-US" sz="2400" b="1" dirty="0"/>
              <a:t>database: PostgreSQL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🗄️ </a:t>
            </a:r>
            <a:r>
              <a:rPr lang="en-US" sz="2400" b="1" dirty="0"/>
              <a:t>SQL</a:t>
            </a:r>
            <a:br>
              <a:rPr lang="en-US" sz="2400" dirty="0"/>
            </a:br>
            <a:r>
              <a:rPr lang="en-US" sz="2400" dirty="0"/>
              <a:t>Stores travel information, user queries, chat logs, and system data.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AI / NLP Component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🤖 </a:t>
            </a:r>
            <a:r>
              <a:rPr lang="en-US" sz="2400" b="1" dirty="0"/>
              <a:t>AI / NLP Engine</a:t>
            </a:r>
            <a:br>
              <a:rPr lang="en-US" sz="2400" dirty="0"/>
            </a:br>
            <a:r>
              <a:rPr lang="en-US" sz="2400" dirty="0"/>
              <a:t>Processes user input and generates intelligent responses.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Development Tools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🛠️ </a:t>
            </a:r>
            <a:r>
              <a:rPr lang="en-US" sz="2400" b="1" dirty="0"/>
              <a:t>VS Code</a:t>
            </a:r>
            <a:r>
              <a:rPr lang="en-US" sz="2400" dirty="0"/>
              <a:t> – Code editor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🔧 </a:t>
            </a:r>
            <a:r>
              <a:rPr lang="en-US" sz="2400" b="1" dirty="0"/>
              <a:t>Git &amp; GitHub</a:t>
            </a:r>
            <a:r>
              <a:rPr lang="en-US" sz="2400" dirty="0"/>
              <a:t> – Version control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D9160-3278-5E3E-C96D-0120ADED1E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45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397F-E64C-BA52-0A5D-B52D9FE0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278994B-6C49-2C00-ADA3-894794FA4917}"/>
              </a:ext>
            </a:extLst>
          </p:cNvPr>
          <p:cNvGrpSpPr/>
          <p:nvPr/>
        </p:nvGrpSpPr>
        <p:grpSpPr>
          <a:xfrm>
            <a:off x="608336" y="1378835"/>
            <a:ext cx="16759811" cy="8956298"/>
            <a:chOff x="0" y="-38100"/>
            <a:chExt cx="1340440" cy="186288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D3BCA3B-D087-7BD5-B2CD-7D1845A38240}"/>
                </a:ext>
              </a:extLst>
            </p:cNvPr>
            <p:cNvSpPr/>
            <p:nvPr/>
          </p:nvSpPr>
          <p:spPr>
            <a:xfrm>
              <a:off x="0" y="0"/>
              <a:ext cx="1340440" cy="1824782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6E3D883-1F20-7D81-0430-DB1D120367B4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1A9F065E-E700-4985-B30C-C2FA580E70F7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10A890A-8749-4A21-6328-42409799C893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99EF58D6-982C-8766-4951-FF96CE84C7B3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2A4373F8-B99D-C42F-F95F-DE1C98BB322B}"/>
              </a:ext>
            </a:extLst>
          </p:cNvPr>
          <p:cNvSpPr txBox="1"/>
          <p:nvPr/>
        </p:nvSpPr>
        <p:spPr>
          <a:xfrm>
            <a:off x="1219200" y="352573"/>
            <a:ext cx="1076983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5. </a:t>
            </a:r>
            <a:r>
              <a:rPr lang="en-US" sz="4000" b="1" dirty="0">
                <a:solidFill>
                  <a:schemeClr val="bg1"/>
                </a:solidFill>
              </a:rPr>
              <a:t>SYSTEM ARCHITECTURE DIAGRAM</a:t>
            </a:r>
            <a:endParaRPr lang="en-US" sz="4000" b="1" spc="99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D708100D-1F04-6AEC-E45D-CFB42761BD9F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7B5F7C-DA59-9735-924C-8B6BE92056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435CE7-9AAA-E4DC-4FEA-7EB70E4E815F}"/>
              </a:ext>
            </a:extLst>
          </p:cNvPr>
          <p:cNvSpPr txBox="1"/>
          <p:nvPr/>
        </p:nvSpPr>
        <p:spPr>
          <a:xfrm>
            <a:off x="1313217" y="2114545"/>
            <a:ext cx="768373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Components</a:t>
            </a:r>
          </a:p>
          <a:p>
            <a:pPr>
              <a:buNone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1. User (Tourist)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Accesses the system via </a:t>
            </a:r>
            <a:r>
              <a:rPr lang="en-US" sz="2800" b="1" dirty="0"/>
              <a:t>Web or Mobile Browser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Interacts using </a:t>
            </a:r>
            <a:r>
              <a:rPr lang="en-US" sz="2800" b="1" dirty="0"/>
              <a:t>English or Khmer</a:t>
            </a:r>
            <a:endParaRPr lang="en-US" sz="2800" dirty="0"/>
          </a:p>
          <a:p>
            <a:pPr>
              <a:buNone/>
            </a:pPr>
            <a:r>
              <a:rPr lang="en-US" sz="2800" b="1" dirty="0">
                <a:solidFill>
                  <a:srgbClr val="00B0F0"/>
                </a:solidFill>
              </a:rPr>
              <a:t>2. Frontend (React)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Provides user interface: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Home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Tourist Attractions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Food Guide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AI Chatbot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Sends user requests to backend via </a:t>
            </a:r>
            <a:r>
              <a:rPr lang="en-US" sz="2800" b="1" dirty="0"/>
              <a:t>API</a:t>
            </a:r>
            <a:endParaRPr lang="en-US" sz="2800" dirty="0"/>
          </a:p>
        </p:txBody>
      </p:sp>
      <p:sp>
        <p:nvSpPr>
          <p:cNvPr id="3" name="TextBox 39">
            <a:extLst>
              <a:ext uri="{FF2B5EF4-FFF2-40B4-BE49-F238E27FC236}">
                <a16:creationId xmlns:a16="http://schemas.microsoft.com/office/drawing/2014/main" id="{C705A8CC-DCB1-C280-B397-653D0C643CE6}"/>
              </a:ext>
            </a:extLst>
          </p:cNvPr>
          <p:cNvSpPr txBox="1"/>
          <p:nvPr/>
        </p:nvSpPr>
        <p:spPr>
          <a:xfrm>
            <a:off x="9430983" y="1895767"/>
            <a:ext cx="7543800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70C0"/>
                </a:solidFill>
              </a:rPr>
              <a:t>3. Backend Server (Django)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Handles business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Processes user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Manages communication between: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Frontend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AI / NLP Engine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Database</a:t>
            </a:r>
          </a:p>
          <a:p>
            <a:pPr>
              <a:buNone/>
            </a:pPr>
            <a:r>
              <a:rPr lang="en-US" sz="2800" b="1" dirty="0">
                <a:solidFill>
                  <a:srgbClr val="00B050"/>
                </a:solidFill>
              </a:rPr>
              <a:t>4. AI / NLP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Understands user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Generates intelligent responses and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Supports </a:t>
            </a:r>
            <a:r>
              <a:rPr lang="en-US" sz="2800" b="1" dirty="0"/>
              <a:t>multilingual interaction (English–Khmer)</a:t>
            </a:r>
            <a:endParaRPr lang="en-US" sz="2800" dirty="0"/>
          </a:p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5. Database (SQL)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Stores: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Tourist attractions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Food guides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Travel tips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User preferences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Chatbot conversation logs</a:t>
            </a:r>
          </a:p>
        </p:txBody>
      </p:sp>
    </p:spTree>
    <p:extLst>
      <p:ext uri="{BB962C8B-B14F-4D97-AF65-F5344CB8AC3E}">
        <p14:creationId xmlns:p14="http://schemas.microsoft.com/office/powerpoint/2010/main" val="236555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49B6-6741-D0A2-E7C9-F2AA2D57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2851F14-FFE3-988C-2B81-EF7AC0572A18}"/>
              </a:ext>
            </a:extLst>
          </p:cNvPr>
          <p:cNvGrpSpPr/>
          <p:nvPr/>
        </p:nvGrpSpPr>
        <p:grpSpPr>
          <a:xfrm>
            <a:off x="608336" y="1378835"/>
            <a:ext cx="16759811" cy="8956298"/>
            <a:chOff x="0" y="-38100"/>
            <a:chExt cx="1340440" cy="186288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3806340-4D9F-6A35-AB5D-379F639F06EE}"/>
                </a:ext>
              </a:extLst>
            </p:cNvPr>
            <p:cNvSpPr/>
            <p:nvPr/>
          </p:nvSpPr>
          <p:spPr>
            <a:xfrm>
              <a:off x="0" y="0"/>
              <a:ext cx="1340440" cy="1824782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98CDBD2-2BFA-D4F4-0F2F-3EC4502E447F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C3AC89E-4924-6945-53FF-A7BF9D4DEBE2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4699073-F19A-D3FF-2C0C-3C306EFEA5DA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81920FD-1269-3056-A881-F62AC287F797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48EB3AFC-0500-0BF4-0D43-69344FC37F43}"/>
              </a:ext>
            </a:extLst>
          </p:cNvPr>
          <p:cNvSpPr txBox="1"/>
          <p:nvPr/>
        </p:nvSpPr>
        <p:spPr>
          <a:xfrm>
            <a:off x="1219200" y="352573"/>
            <a:ext cx="1076983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5. </a:t>
            </a:r>
            <a:r>
              <a:rPr lang="en-US" sz="4000" b="1" dirty="0">
                <a:solidFill>
                  <a:schemeClr val="bg1"/>
                </a:solidFill>
              </a:rPr>
              <a:t>SYSTEM ARCHITECTURE DIAGRAM</a:t>
            </a:r>
            <a:endParaRPr lang="en-US" sz="4000" b="1" spc="99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B8AFDC57-36AA-B528-425B-2D0483E1EB54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E92FF2-4D90-F18A-CE5C-EDF4D4EF45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D3E877-7AA8-5897-2CEC-35389E4F348A}"/>
              </a:ext>
            </a:extLst>
          </p:cNvPr>
          <p:cNvSpPr txBox="1"/>
          <p:nvPr/>
        </p:nvSpPr>
        <p:spPr>
          <a:xfrm>
            <a:off x="6477000" y="1470254"/>
            <a:ext cx="9144000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┌──────────────────────────────┐</a:t>
            </a:r>
          </a:p>
          <a:p>
            <a:r>
              <a:rPr lang="en-US" dirty="0"/>
              <a:t>│          User / Tourist     	               │</a:t>
            </a:r>
          </a:p>
          <a:p>
            <a:r>
              <a:rPr lang="en-US" dirty="0"/>
              <a:t>│       (Web Browser)                                │</a:t>
            </a:r>
          </a:p>
          <a:p>
            <a:r>
              <a:rPr lang="en-US" dirty="0"/>
              <a:t>└───────────────▲─────────────┘</a:t>
            </a:r>
          </a:p>
          <a:p>
            <a:r>
              <a:rPr lang="en-US" dirty="0"/>
              <a:t>                │</a:t>
            </a:r>
          </a:p>
          <a:p>
            <a:r>
              <a:rPr lang="en-US" dirty="0"/>
              <a:t>                │ Chat Message / Request</a:t>
            </a:r>
          </a:p>
          <a:p>
            <a:r>
              <a:rPr lang="en-US" dirty="0"/>
              <a:t>                ▼</a:t>
            </a:r>
          </a:p>
          <a:p>
            <a:r>
              <a:rPr lang="en-US" dirty="0"/>
              <a:t>┌──────────────────────────────┐</a:t>
            </a:r>
          </a:p>
          <a:p>
            <a:r>
              <a:rPr lang="en-US" dirty="0"/>
              <a:t>│        Presentation Layer                        │</a:t>
            </a:r>
          </a:p>
          <a:p>
            <a:r>
              <a:rPr lang="en-US" dirty="0"/>
              <a:t>│        Django Frontend 	               │</a:t>
            </a:r>
          </a:p>
          <a:p>
            <a:r>
              <a:rPr lang="en-US" dirty="0"/>
              <a:t>│  - Chat Interface            	               │</a:t>
            </a:r>
          </a:p>
          <a:p>
            <a:r>
              <a:rPr lang="en-US" dirty="0"/>
              <a:t>│  - Input / Output Display                     │</a:t>
            </a:r>
          </a:p>
          <a:p>
            <a:r>
              <a:rPr lang="en-US" dirty="0"/>
              <a:t>└───────────────▲─────────────┘</a:t>
            </a:r>
          </a:p>
          <a:p>
            <a:r>
              <a:rPr lang="en-US" dirty="0"/>
              <a:t>                │ REST API Call</a:t>
            </a:r>
          </a:p>
          <a:p>
            <a:r>
              <a:rPr lang="en-US" dirty="0"/>
              <a:t>                ▼</a:t>
            </a:r>
          </a:p>
          <a:p>
            <a:r>
              <a:rPr lang="en-US" dirty="0"/>
              <a:t>┌──────────────────────────────┐</a:t>
            </a:r>
          </a:p>
          <a:p>
            <a:r>
              <a:rPr lang="en-US" dirty="0"/>
              <a:t>│        Application Layer     	               │</a:t>
            </a:r>
          </a:p>
          <a:p>
            <a:r>
              <a:rPr lang="en-US" dirty="0"/>
              <a:t>│     Python (Django)                               │</a:t>
            </a:r>
          </a:p>
          <a:p>
            <a:r>
              <a:rPr lang="en-US" dirty="0"/>
              <a:t>│  - Request Processing                          │</a:t>
            </a:r>
          </a:p>
          <a:p>
            <a:r>
              <a:rPr lang="en-US" dirty="0"/>
              <a:t>│  - Business Logic            	               │</a:t>
            </a:r>
          </a:p>
          <a:p>
            <a:r>
              <a:rPr lang="en-US" dirty="0"/>
              <a:t>│  - Chat Controller                                  │</a:t>
            </a:r>
          </a:p>
          <a:p>
            <a:r>
              <a:rPr lang="en-US" dirty="0"/>
              <a:t>└───────────────▲─────────────┘</a:t>
            </a:r>
          </a:p>
          <a:p>
            <a:r>
              <a:rPr lang="en-US" dirty="0"/>
              <a:t>                │</a:t>
            </a:r>
          </a:p>
          <a:p>
            <a:r>
              <a:rPr lang="en-US" dirty="0"/>
              <a:t>      ┌─────────┴─────────┐</a:t>
            </a:r>
          </a:p>
          <a:p>
            <a:r>
              <a:rPr lang="en-US" dirty="0"/>
              <a:t>      ▼                   ▼</a:t>
            </a:r>
          </a:p>
          <a:p>
            <a:r>
              <a:rPr lang="en-US" dirty="0"/>
              <a:t>┌────────────────┐   ┌──────────────────┐</a:t>
            </a:r>
          </a:p>
          <a:p>
            <a:r>
              <a:rPr lang="en-US" dirty="0"/>
              <a:t>│ 🤖 AI / NLP             │   │ 🗄️ SQL Database        │</a:t>
            </a:r>
          </a:p>
          <a:p>
            <a:r>
              <a:rPr lang="en-US" dirty="0"/>
              <a:t>│ - NLP Analysis          │   │ - Travel Content         │</a:t>
            </a:r>
          </a:p>
          <a:p>
            <a:r>
              <a:rPr lang="en-US" dirty="0"/>
              <a:t>│ - Response Gen       │   │ - User Queries            │</a:t>
            </a:r>
          </a:p>
          <a:p>
            <a:r>
              <a:rPr lang="en-US" dirty="0"/>
              <a:t>│                                  │    │ - Chat History              │</a:t>
            </a:r>
          </a:p>
          <a:p>
            <a:r>
              <a:rPr lang="en-US" dirty="0"/>
              <a:t>└────────────────┘   └──────────────────┘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063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7DE9-BEA4-98D1-BF56-671EFEB5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0A0AA4C-D024-76F9-F967-7B5F00143A5C}"/>
              </a:ext>
            </a:extLst>
          </p:cNvPr>
          <p:cNvGrpSpPr/>
          <p:nvPr/>
        </p:nvGrpSpPr>
        <p:grpSpPr>
          <a:xfrm>
            <a:off x="608336" y="1330702"/>
            <a:ext cx="16759811" cy="8956298"/>
            <a:chOff x="0" y="-38100"/>
            <a:chExt cx="1340440" cy="186288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47BE01-29E1-C2DB-F493-38609156C818}"/>
                </a:ext>
              </a:extLst>
            </p:cNvPr>
            <p:cNvSpPr/>
            <p:nvPr/>
          </p:nvSpPr>
          <p:spPr>
            <a:xfrm>
              <a:off x="0" y="0"/>
              <a:ext cx="1340440" cy="1824782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E45E2F9-B279-CA2C-6A5E-AC3620ECF740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9F428624-2E12-B9AE-E78A-7BFAAD1A4567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E5C554B-BB7C-9B32-9414-657BA9A9226B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DF599B50-CF9A-51BE-62B3-30E218C22CA1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0284CF94-92E6-BA0B-A50A-781E7A5AA2D3}"/>
              </a:ext>
            </a:extLst>
          </p:cNvPr>
          <p:cNvSpPr txBox="1"/>
          <p:nvPr/>
        </p:nvSpPr>
        <p:spPr>
          <a:xfrm>
            <a:off x="1219200" y="352573"/>
            <a:ext cx="15087600" cy="1724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6. </a:t>
            </a:r>
            <a:r>
              <a:rPr lang="en-US" sz="4000" b="1" dirty="0">
                <a:solidFill>
                  <a:schemeClr val="bg1"/>
                </a:solidFill>
              </a:rPr>
              <a:t>DEMO</a:t>
            </a:r>
            <a:r>
              <a:rPr lang="en-US" sz="4000" dirty="0">
                <a:solidFill>
                  <a:schemeClr val="bg1"/>
                </a:solidFill>
              </a:rPr>
              <a:t> (Switch to live software demo - </a:t>
            </a:r>
            <a:r>
              <a:rPr lang="en-US" sz="4000" i="1" dirty="0">
                <a:solidFill>
                  <a:schemeClr val="bg1"/>
                </a:solidFill>
              </a:rPr>
              <a:t>Most Important Part</a:t>
            </a:r>
            <a:r>
              <a:rPr lang="en-US" sz="4000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ts val="6999"/>
              </a:lnSpc>
            </a:pPr>
            <a:endParaRPr lang="en-US" sz="4000" b="1" spc="99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CEBB949C-B1CA-BEB8-8311-0DF2200DBF48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87DEF2-2B45-FA7B-2EEF-9C22B873A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012720-2842-A3C5-BB05-FC45A75ECB20}"/>
              </a:ext>
            </a:extLst>
          </p:cNvPr>
          <p:cNvSpPr txBox="1"/>
          <p:nvPr/>
        </p:nvSpPr>
        <p:spPr>
          <a:xfrm>
            <a:off x="1219200" y="1874125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Demo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Demonstrate how the </a:t>
            </a:r>
            <a:r>
              <a:rPr lang="en-US" sz="2400" b="1" dirty="0"/>
              <a:t>AI Travel Guide Chatbot for Cambodia</a:t>
            </a:r>
            <a:r>
              <a:rPr lang="en-US" sz="2400" dirty="0"/>
              <a:t> works in real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Show the system’s </a:t>
            </a:r>
            <a:r>
              <a:rPr lang="en-US" sz="2400" b="1" dirty="0"/>
              <a:t>usability, accuracy, and responsiveness</a:t>
            </a:r>
            <a:r>
              <a:rPr lang="en-US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23136-4F65-1F9C-8D94-7B91A7ED85C2}"/>
              </a:ext>
            </a:extLst>
          </p:cNvPr>
          <p:cNvSpPr txBox="1"/>
          <p:nvPr/>
        </p:nvSpPr>
        <p:spPr>
          <a:xfrm>
            <a:off x="1981200" y="4028368"/>
            <a:ext cx="6629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Demo Flow (What We Will Show)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Open the chatbot web application.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Show the </a:t>
            </a:r>
            <a:r>
              <a:rPr lang="en-US" sz="2400" b="1" dirty="0"/>
              <a:t>clean chat interface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Enter sample tourist questions.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Display </a:t>
            </a:r>
            <a:r>
              <a:rPr lang="en-US" sz="2400" b="1" dirty="0"/>
              <a:t>AI-generated responses instantly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Highlight Cambodia-specific information.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72706-4DA6-25F3-53B1-F5E8F0B66526}"/>
              </a:ext>
            </a:extLst>
          </p:cNvPr>
          <p:cNvSpPr txBox="1"/>
          <p:nvPr/>
        </p:nvSpPr>
        <p:spPr>
          <a:xfrm>
            <a:off x="9969033" y="4028368"/>
            <a:ext cx="6477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Sample Demo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“What are the best places to visit in Siem Reap?”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“How can I travel from Phnom Penh to Sihanoukville?”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“What local food should I try in Cambodia?”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“Is Cambodia safe for tourists?”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3193B-4398-321F-CD07-6EBF74327EE1}"/>
              </a:ext>
            </a:extLst>
          </p:cNvPr>
          <p:cNvSpPr txBox="1"/>
          <p:nvPr/>
        </p:nvSpPr>
        <p:spPr>
          <a:xfrm>
            <a:off x="5941364" y="7273974"/>
            <a:ext cx="7010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Points to Highlight During Demo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 response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Accurate and relevant answers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Interactive chat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User-friendly design</a:t>
            </a:r>
          </a:p>
        </p:txBody>
      </p:sp>
    </p:spTree>
    <p:extLst>
      <p:ext uri="{BB962C8B-B14F-4D97-AF65-F5344CB8AC3E}">
        <p14:creationId xmlns:p14="http://schemas.microsoft.com/office/powerpoint/2010/main" val="133336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7DE9-BEA4-98D1-BF56-671EFEB5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0A0AA4C-D024-76F9-F967-7B5F00143A5C}"/>
              </a:ext>
            </a:extLst>
          </p:cNvPr>
          <p:cNvGrpSpPr/>
          <p:nvPr/>
        </p:nvGrpSpPr>
        <p:grpSpPr>
          <a:xfrm>
            <a:off x="608336" y="1330702"/>
            <a:ext cx="17647445" cy="8956298"/>
            <a:chOff x="0" y="-38100"/>
            <a:chExt cx="1340440" cy="186288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47BE01-29E1-C2DB-F493-38609156C818}"/>
                </a:ext>
              </a:extLst>
            </p:cNvPr>
            <p:cNvSpPr/>
            <p:nvPr/>
          </p:nvSpPr>
          <p:spPr>
            <a:xfrm>
              <a:off x="0" y="0"/>
              <a:ext cx="1340440" cy="1824782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E45E2F9-B279-CA2C-6A5E-AC3620ECF740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9F428624-2E12-B9AE-E78A-7BFAAD1A4567}"/>
              </a:ext>
            </a:extLst>
          </p:cNvPr>
          <p:cNvGrpSpPr/>
          <p:nvPr/>
        </p:nvGrpSpPr>
        <p:grpSpPr>
          <a:xfrm>
            <a:off x="0" y="-32413"/>
            <a:ext cx="18288000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E5C554B-BB7C-9B32-9414-657BA9A9226B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DF599B50-CF9A-51BE-62B3-30E218C22CA1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0284CF94-92E6-BA0B-A50A-781E7A5AA2D3}"/>
              </a:ext>
            </a:extLst>
          </p:cNvPr>
          <p:cNvSpPr txBox="1"/>
          <p:nvPr/>
        </p:nvSpPr>
        <p:spPr>
          <a:xfrm>
            <a:off x="1219200" y="352573"/>
            <a:ext cx="15087600" cy="1724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7. </a:t>
            </a:r>
            <a:r>
              <a:rPr lang="en-US" sz="4000" b="1" dirty="0">
                <a:solidFill>
                  <a:schemeClr val="bg1"/>
                </a:solidFill>
              </a:rPr>
              <a:t>Testing Result</a:t>
            </a:r>
            <a:r>
              <a:rPr lang="en-US" sz="4000" dirty="0">
                <a:solidFill>
                  <a:schemeClr val="bg1"/>
                </a:solidFill>
              </a:rPr>
              <a:t> (Result of Project)</a:t>
            </a:r>
          </a:p>
          <a:p>
            <a:pPr>
              <a:lnSpc>
                <a:spcPts val="6999"/>
              </a:lnSpc>
            </a:pPr>
            <a:endParaRPr lang="en-US" sz="4000" b="1" spc="99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CEBB949C-B1CA-BEB8-8311-0DF2200DBF48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87DEF2-2B45-FA7B-2EEF-9C22B873A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61C97-D2E4-4831-8345-C9DABC4E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297" y="2032220"/>
            <a:ext cx="7467600" cy="3373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9E6116-103D-4CED-9F41-EBE87D08F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162" y="2044194"/>
            <a:ext cx="7467600" cy="3325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098FE8-6174-4AFE-BA5D-A5380B8E8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551" y="5862553"/>
            <a:ext cx="7425092" cy="3557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4BD7C7-04B6-4DFE-9A22-5A88CD8263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3670" y="5862553"/>
            <a:ext cx="7425092" cy="36317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1770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86B1-5BDA-1372-7086-D2C4811B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24501D53-8276-D261-F8E7-86F65C16C286}"/>
              </a:ext>
            </a:extLst>
          </p:cNvPr>
          <p:cNvGrpSpPr/>
          <p:nvPr/>
        </p:nvGrpSpPr>
        <p:grpSpPr>
          <a:xfrm>
            <a:off x="608336" y="1336145"/>
            <a:ext cx="16759811" cy="8956298"/>
            <a:chOff x="0" y="-38100"/>
            <a:chExt cx="1340440" cy="186288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3011351-6E53-A216-7E4C-D0E321CD1CA7}"/>
                </a:ext>
              </a:extLst>
            </p:cNvPr>
            <p:cNvSpPr/>
            <p:nvPr/>
          </p:nvSpPr>
          <p:spPr>
            <a:xfrm>
              <a:off x="0" y="0"/>
              <a:ext cx="1340440" cy="1824782"/>
            </a:xfrm>
            <a:custGeom>
              <a:avLst/>
              <a:gdLst/>
              <a:ahLst/>
              <a:cxnLst/>
              <a:rect l="l" t="t" r="r" b="b"/>
              <a:pathLst>
                <a:path w="1340440" h="1690329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  <p:txBody>
            <a:bodyPr/>
            <a:lstStyle/>
            <a:p>
              <a:endParaRPr lang="en-US" b="1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97F662A-6ABC-2FC4-1377-DDE1F9F7AC5A}"/>
                </a:ext>
              </a:extLst>
            </p:cNvPr>
            <p:cNvSpPr txBox="1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789DD45-B12D-3B40-65B9-B8F97F6551FE}"/>
              </a:ext>
            </a:extLst>
          </p:cNvPr>
          <p:cNvGrpSpPr/>
          <p:nvPr/>
        </p:nvGrpSpPr>
        <p:grpSpPr>
          <a:xfrm>
            <a:off x="0" y="-32413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11A777-DA0D-F381-89B5-CAA397E9BCE2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D5BBFC40-9278-6B18-3B48-3AD6F698CD6B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2FEC128C-8D52-C73F-C115-988C04C9E3B8}"/>
              </a:ext>
            </a:extLst>
          </p:cNvPr>
          <p:cNvSpPr txBox="1"/>
          <p:nvPr/>
        </p:nvSpPr>
        <p:spPr>
          <a:xfrm>
            <a:off x="1219200" y="352573"/>
            <a:ext cx="15087600" cy="1724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GB" sz="4000" b="1" spc="99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8. </a:t>
            </a:r>
            <a:r>
              <a:rPr lang="en-US" sz="4000" b="1" dirty="0">
                <a:solidFill>
                  <a:schemeClr val="bg1"/>
                </a:solidFill>
              </a:rPr>
              <a:t>CHALLENGES &amp; SOLUTIONS</a:t>
            </a:r>
            <a:r>
              <a:rPr lang="en-US" sz="4000" dirty="0">
                <a:solidFill>
                  <a:schemeClr val="bg1"/>
                </a:solidFill>
              </a:rPr>
              <a:t> (TECHNICAL HURDLES FACED)</a:t>
            </a:r>
          </a:p>
          <a:p>
            <a:pPr>
              <a:lnSpc>
                <a:spcPts val="6999"/>
              </a:lnSpc>
            </a:pPr>
            <a:endParaRPr lang="en-US" sz="4000" b="1" spc="99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731349C2-317C-9625-35EA-D56F1657BED0}"/>
              </a:ext>
            </a:extLst>
          </p:cNvPr>
          <p:cNvSpPr txBox="1"/>
          <p:nvPr/>
        </p:nvSpPr>
        <p:spPr>
          <a:xfrm>
            <a:off x="10101978" y="2616249"/>
            <a:ext cx="3105555" cy="494548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03CEEB-6AB8-9B60-9C83-AFCF9A607B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4" y="165535"/>
            <a:ext cx="556683" cy="643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492FC4-EDAC-2DAC-0DAE-5F045C25F4EA}"/>
              </a:ext>
            </a:extLst>
          </p:cNvPr>
          <p:cNvSpPr txBox="1"/>
          <p:nvPr/>
        </p:nvSpPr>
        <p:spPr>
          <a:xfrm>
            <a:off x="1687251" y="2568355"/>
            <a:ext cx="7440431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0000"/>
                </a:solidFill>
              </a:rPr>
              <a:t>Challenges</a:t>
            </a:r>
            <a:br>
              <a:rPr lang="en-US" sz="3200" b="1" dirty="0">
                <a:solidFill>
                  <a:srgbClr val="FF0000"/>
                </a:solidFill>
              </a:rPr>
            </a:br>
            <a:endParaRPr lang="en-US" sz="32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b="1" dirty="0"/>
              <a:t>Handling diverse user questions</a:t>
            </a:r>
          </a:p>
          <a:p>
            <a:pPr>
              <a:lnSpc>
                <a:spcPct val="150000"/>
              </a:lnSpc>
              <a:buNone/>
            </a:pPr>
            <a:endParaRPr lang="en-US" sz="3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Ensuring accurate tourism information</a:t>
            </a:r>
          </a:p>
          <a:p>
            <a:pPr>
              <a:lnSpc>
                <a:spcPct val="150000"/>
              </a:lnSpc>
              <a:buNone/>
            </a:pPr>
            <a:endParaRPr lang="en-US" sz="3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AI response consistency</a:t>
            </a:r>
          </a:p>
          <a:p>
            <a:pPr>
              <a:lnSpc>
                <a:spcPct val="150000"/>
              </a:lnSpc>
              <a:buNone/>
            </a:pPr>
            <a:endParaRPr lang="en-US" sz="3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Language understanding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D226D-D1B4-3AEF-15BF-9C2C6A5ABE8A}"/>
              </a:ext>
            </a:extLst>
          </p:cNvPr>
          <p:cNvSpPr txBox="1"/>
          <p:nvPr/>
        </p:nvSpPr>
        <p:spPr>
          <a:xfrm>
            <a:off x="10285736" y="1988821"/>
            <a:ext cx="6629400" cy="675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B050"/>
                </a:solidFill>
              </a:rPr>
              <a:t>Solutions </a:t>
            </a:r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3200" b="1" dirty="0"/>
              <a:t>Improved NLP training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3200" b="1" dirty="0"/>
              <a:t>Structured tourist data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3200" b="1" dirty="0"/>
              <a:t>Continuous testing and refinement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3200" b="1" dirty="0"/>
              <a:t>User feedback integration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91537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93B5-0CE0-1F5C-3AF4-A4098EC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>
            <a:extLst>
              <a:ext uri="{FF2B5EF4-FFF2-40B4-BE49-F238E27FC236}">
                <a16:creationId xmlns:a16="http://schemas.microsoft.com/office/drawing/2014/main" id="{19DFA246-6BFE-C658-5AA6-030ED42AED0D}"/>
              </a:ext>
            </a:extLst>
          </p:cNvPr>
          <p:cNvGrpSpPr/>
          <p:nvPr/>
        </p:nvGrpSpPr>
        <p:grpSpPr>
          <a:xfrm>
            <a:off x="0" y="0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F7F16BE-2B52-D770-1A31-6BF9E5F05D8F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89C9B31B-B586-E5F1-781C-E6BADBE2BD0F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AC243A1F-4A11-0FCF-6935-E10521ADA602}"/>
              </a:ext>
            </a:extLst>
          </p:cNvPr>
          <p:cNvSpPr txBox="1"/>
          <p:nvPr/>
        </p:nvSpPr>
        <p:spPr>
          <a:xfrm>
            <a:off x="919853" y="296934"/>
            <a:ext cx="1523454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Garet Bold" panose="020B0604020202020204" charset="0"/>
              </a:rPr>
              <a:t>9. CONCLUSION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3EE9D-5EF5-F2FC-FCD3-4E3F1621FD6A}"/>
              </a:ext>
            </a:extLst>
          </p:cNvPr>
          <p:cNvSpPr txBox="1"/>
          <p:nvPr/>
        </p:nvSpPr>
        <p:spPr>
          <a:xfrm>
            <a:off x="1752600" y="2247900"/>
            <a:ext cx="14935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CONCLUSION</a:t>
            </a:r>
          </a:p>
          <a:p>
            <a:endParaRPr lang="en-US" sz="3600" b="1" dirty="0"/>
          </a:p>
          <a:p>
            <a:r>
              <a:rPr lang="en-US" sz="3200" dirty="0"/>
              <a:t>The </a:t>
            </a:r>
            <a:r>
              <a:rPr lang="en-US" sz="3200" b="1" dirty="0"/>
              <a:t>AI Travel Guide Chatbot for Cambodia</a:t>
            </a:r>
            <a:r>
              <a:rPr lang="en-US" sz="3200" dirty="0"/>
              <a:t> was successfully designed and developed.</a:t>
            </a:r>
          </a:p>
          <a:p>
            <a:r>
              <a:rPr lang="en-US" sz="3200" dirty="0"/>
              <a:t>The system provides </a:t>
            </a:r>
            <a:r>
              <a:rPr lang="en-US" sz="3200" b="1" dirty="0"/>
              <a:t>instant, accurate, and personalized travel information</a:t>
            </a:r>
            <a:r>
              <a:rPr lang="en-US" sz="3200" dirty="0"/>
              <a:t> to tourists.</a:t>
            </a:r>
          </a:p>
          <a:p>
            <a:r>
              <a:rPr lang="en-US" sz="3200" dirty="0"/>
              <a:t>It supports </a:t>
            </a:r>
            <a:r>
              <a:rPr lang="en-US" sz="3200" b="1" dirty="0"/>
              <a:t>English and Khmer</a:t>
            </a:r>
            <a:r>
              <a:rPr lang="en-US" sz="3200" dirty="0"/>
              <a:t>, helping overcome language barriers.</a:t>
            </a:r>
          </a:p>
          <a:p>
            <a:r>
              <a:rPr lang="en-US" sz="3200" dirty="0"/>
              <a:t>The chatbot enhances </a:t>
            </a:r>
            <a:r>
              <a:rPr lang="en-US" sz="3200" b="1" dirty="0"/>
              <a:t>tourist experience and satisfaction</a:t>
            </a:r>
            <a:r>
              <a:rPr lang="en-US" sz="3200" dirty="0"/>
              <a:t> through 24/7 AI assistance.</a:t>
            </a:r>
          </a:p>
          <a:p>
            <a:r>
              <a:rPr lang="en-US" sz="3200" dirty="0"/>
              <a:t>The project demonstrates how </a:t>
            </a:r>
            <a:r>
              <a:rPr lang="en-US" sz="3200" b="1" dirty="0"/>
              <a:t>modern AI technology</a:t>
            </a:r>
            <a:r>
              <a:rPr lang="en-US" sz="3200" dirty="0"/>
              <a:t> can support and promote Cambodia’s tourism industry.</a:t>
            </a:r>
          </a:p>
        </p:txBody>
      </p:sp>
    </p:spTree>
    <p:extLst>
      <p:ext uri="{BB962C8B-B14F-4D97-AF65-F5344CB8AC3E}">
        <p14:creationId xmlns:p14="http://schemas.microsoft.com/office/powerpoint/2010/main" val="3019253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B1103-EAC1-B77B-A253-23874258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>
            <a:extLst>
              <a:ext uri="{FF2B5EF4-FFF2-40B4-BE49-F238E27FC236}">
                <a16:creationId xmlns:a16="http://schemas.microsoft.com/office/drawing/2014/main" id="{27F11D0F-28F2-BCCD-67CF-D16CF507F9D3}"/>
              </a:ext>
            </a:extLst>
          </p:cNvPr>
          <p:cNvGrpSpPr/>
          <p:nvPr/>
        </p:nvGrpSpPr>
        <p:grpSpPr>
          <a:xfrm>
            <a:off x="0" y="0"/>
            <a:ext cx="17368147" cy="1543194"/>
            <a:chOff x="0" y="0"/>
            <a:chExt cx="4574327" cy="40643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0B80F6E-553D-E134-25AB-1399708D647C}"/>
                </a:ext>
              </a:extLst>
            </p:cNvPr>
            <p:cNvSpPr/>
            <p:nvPr/>
          </p:nvSpPr>
          <p:spPr>
            <a:xfrm>
              <a:off x="0" y="0"/>
              <a:ext cx="4574327" cy="406438"/>
            </a:xfrm>
            <a:custGeom>
              <a:avLst/>
              <a:gdLst/>
              <a:ahLst/>
              <a:cxnLst/>
              <a:rect l="l" t="t" r="r" b="b"/>
              <a:pathLst>
                <a:path w="4574327" h="406438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98BB1BA-B6CE-ECB5-9819-87B77ED8F2EA}"/>
                </a:ext>
              </a:extLst>
            </p:cNvPr>
            <p:cNvSpPr txBox="1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34BD1E5C-75FB-03F5-33C5-DF46712F2E88}"/>
              </a:ext>
            </a:extLst>
          </p:cNvPr>
          <p:cNvSpPr txBox="1"/>
          <p:nvPr/>
        </p:nvSpPr>
        <p:spPr>
          <a:xfrm>
            <a:off x="919853" y="296934"/>
            <a:ext cx="1523454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Garet Bold" panose="020B0604020202020204" charset="0"/>
              </a:rPr>
              <a:t>9. CONCLUSION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FFA81-9DAA-5303-898D-144F2902C28C}"/>
              </a:ext>
            </a:extLst>
          </p:cNvPr>
          <p:cNvSpPr txBox="1"/>
          <p:nvPr/>
        </p:nvSpPr>
        <p:spPr>
          <a:xfrm>
            <a:off x="2133600" y="1687855"/>
            <a:ext cx="14935200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Future Scope</a:t>
            </a:r>
          </a:p>
          <a:p>
            <a:endParaRPr lang="en-US" sz="36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Mobile Application Development</a:t>
            </a:r>
            <a:br>
              <a:rPr lang="en-US" sz="3200" dirty="0"/>
            </a:br>
            <a:r>
              <a:rPr lang="en-US" sz="3200" dirty="0"/>
              <a:t>Android and iOS versions for wider accessibility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Voice-Based Chatbot</a:t>
            </a:r>
            <a:br>
              <a:rPr lang="en-US" sz="3200" dirty="0"/>
            </a:br>
            <a:r>
              <a:rPr lang="en-US" sz="3200" dirty="0"/>
              <a:t>Support voice input and output for hands-free interaction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Advanced Personalization</a:t>
            </a:r>
            <a:br>
              <a:rPr lang="en-US" sz="3200" dirty="0"/>
            </a:br>
            <a:r>
              <a:rPr lang="en-US" sz="3200" dirty="0"/>
              <a:t>AI recommendations based on user behavior, interests, and travel history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Map &amp; Location Integration</a:t>
            </a:r>
            <a:br>
              <a:rPr lang="en-US" sz="3200" dirty="0"/>
            </a:br>
            <a:r>
              <a:rPr lang="en-US" sz="3200" dirty="0" err="1"/>
              <a:t>Integration</a:t>
            </a:r>
            <a:r>
              <a:rPr lang="en-US" sz="3200" dirty="0"/>
              <a:t> with GPS and maps for navigation and nearby attractions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Booking &amp; Service Integration</a:t>
            </a:r>
            <a:br>
              <a:rPr lang="en-US" sz="3200" dirty="0"/>
            </a:br>
            <a:r>
              <a:rPr lang="en-US" sz="3200" dirty="0"/>
              <a:t>Hotels, transportation, tours, and ticket booking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Real-Time Information</a:t>
            </a:r>
            <a:br>
              <a:rPr lang="en-US" sz="3200" dirty="0"/>
            </a:br>
            <a:r>
              <a:rPr lang="en-US" sz="3200" dirty="0"/>
              <a:t>Live updates on weather, events, traffic, and travel advisories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Expanded Language Support</a:t>
            </a:r>
            <a:br>
              <a:rPr lang="en-US" sz="3200" dirty="0"/>
            </a:br>
            <a:r>
              <a:rPr lang="en-US" sz="3200" dirty="0"/>
              <a:t>Improved Khmer support and additional international languages</a:t>
            </a:r>
          </a:p>
        </p:txBody>
      </p:sp>
    </p:spTree>
    <p:extLst>
      <p:ext uri="{BB962C8B-B14F-4D97-AF65-F5344CB8AC3E}">
        <p14:creationId xmlns:p14="http://schemas.microsoft.com/office/powerpoint/2010/main" val="448248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42469" y="0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r="-1296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4423" y="5356916"/>
            <a:ext cx="4176257" cy="654298"/>
            <a:chOff x="0" y="-28575"/>
            <a:chExt cx="1099919" cy="1723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9919" cy="143750"/>
            </a:xfrm>
            <a:custGeom>
              <a:avLst/>
              <a:gdLst/>
              <a:ahLst/>
              <a:cxnLst/>
              <a:rect l="l" t="t" r="r" b="b"/>
              <a:pathLst>
                <a:path w="1099919" h="143750">
                  <a:moveTo>
                    <a:pt x="71875" y="0"/>
                  </a:moveTo>
                  <a:lnTo>
                    <a:pt x="1028044" y="0"/>
                  </a:lnTo>
                  <a:cubicBezTo>
                    <a:pt x="1067740" y="0"/>
                    <a:pt x="1099919" y="32180"/>
                    <a:pt x="1099919" y="71875"/>
                  </a:cubicBezTo>
                  <a:lnTo>
                    <a:pt x="1099919" y="71875"/>
                  </a:lnTo>
                  <a:cubicBezTo>
                    <a:pt x="1099919" y="90938"/>
                    <a:pt x="1092347" y="109219"/>
                    <a:pt x="1078868" y="122699"/>
                  </a:cubicBezTo>
                  <a:cubicBezTo>
                    <a:pt x="1065389" y="136178"/>
                    <a:pt x="1047107" y="143750"/>
                    <a:pt x="1028044" y="143750"/>
                  </a:cubicBezTo>
                  <a:lnTo>
                    <a:pt x="71875" y="143750"/>
                  </a:lnTo>
                  <a:cubicBezTo>
                    <a:pt x="52813" y="143750"/>
                    <a:pt x="34531" y="136178"/>
                    <a:pt x="21052" y="122699"/>
                  </a:cubicBezTo>
                  <a:cubicBezTo>
                    <a:pt x="7573" y="109219"/>
                    <a:pt x="0" y="90938"/>
                    <a:pt x="0" y="71875"/>
                  </a:cubicBezTo>
                  <a:lnTo>
                    <a:pt x="0" y="71875"/>
                  </a:lnTo>
                  <a:cubicBezTo>
                    <a:pt x="0" y="52813"/>
                    <a:pt x="7573" y="34531"/>
                    <a:pt x="21052" y="21052"/>
                  </a:cubicBezTo>
                  <a:cubicBezTo>
                    <a:pt x="34531" y="7573"/>
                    <a:pt x="52813" y="0"/>
                    <a:pt x="71875" y="0"/>
                  </a:cubicBezTo>
                  <a:close/>
                </a:path>
              </a:pathLst>
            </a:custGeom>
            <a:solidFill>
              <a:srgbClr val="0345E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99919" cy="17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25 – December- 2025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53887" y="786854"/>
            <a:ext cx="1977164" cy="197716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53503" y="4648200"/>
            <a:ext cx="876656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YOUR ATTENTION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93628" y="8159226"/>
            <a:ext cx="6429541" cy="396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vannymanuel333666999@gmail.com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4423" y="3135538"/>
            <a:ext cx="8795646" cy="1523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id="28" name="Freeform 28"/>
          <p:cNvSpPr/>
          <p:nvPr/>
        </p:nvSpPr>
        <p:spPr>
          <a:xfrm>
            <a:off x="1624423" y="8133422"/>
            <a:ext cx="488488" cy="488488"/>
          </a:xfrm>
          <a:custGeom>
            <a:avLst/>
            <a:gdLst/>
            <a:ahLst/>
            <a:cxnLst/>
            <a:rect l="l" t="t" r="r" b="b"/>
            <a:pathLst>
              <a:path w="488488" h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1317</Words>
  <Application>Microsoft Office PowerPoint</Application>
  <PresentationFormat>Custom</PresentationFormat>
  <Paragraphs>257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Khmer OS Muol Light</vt:lpstr>
      <vt:lpstr>Garet Bold</vt:lpstr>
      <vt:lpstr>Calibri</vt:lpstr>
      <vt:lpstr>Open Sans</vt:lpstr>
      <vt:lpstr>Arial</vt:lpstr>
      <vt:lpstr>AKbalthom Kbach</vt:lpstr>
      <vt:lpstr>Goudy Old Style</vt:lpstr>
      <vt:lpstr>Calibri (Body)</vt:lpstr>
      <vt:lpstr>Khmer OS Battambang</vt:lpstr>
      <vt:lpstr>Garet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ROG</dc:creator>
  <cp:lastModifiedBy>Tep Vanny</cp:lastModifiedBy>
  <cp:revision>23</cp:revision>
  <dcterms:created xsi:type="dcterms:W3CDTF">2006-08-16T00:00:00Z</dcterms:created>
  <dcterms:modified xsi:type="dcterms:W3CDTF">2025-12-29T16:11:33Z</dcterms:modified>
  <dc:identifier>DAG3I63ACus</dc:identifier>
</cp:coreProperties>
</file>